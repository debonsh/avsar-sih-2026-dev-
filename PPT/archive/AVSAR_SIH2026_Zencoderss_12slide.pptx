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600" b="1">
                <a:solidFill>
                  <a:srgbClr val="1E9E4D"/>
                </a:solidFill>
                <a:latin typeface="Calibri"/>
              </a:rPr>
              <a:t>AVSAR</a:t>
            </a:r>
            <a:r>
              <a:rPr sz="3400" b="1">
                <a:solidFill>
                  <a:srgbClr val="F26522"/>
                </a:solidFill>
                <a:latin typeface="Nirmala UI"/>
              </a:rPr>
              <a:t>  (अवसर)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6395B"/>
                </a:solidFill>
                <a:latin typeface="Calibri"/>
              </a:rPr>
              <a:t>Centralized Academia–Industry Collaboration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0" i="1">
                <a:solidFill>
                  <a:srgbClr val="5B636B"/>
                </a:solidFill>
                <a:latin typeface="Calibri"/>
              </a:rPr>
              <a:t>Assess skills.  Close gaps.  Prove talent.  Get hired.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3794760"/>
            <a:ext cx="3383280" cy="148132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24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7A3B"/>
                </a:solidFill>
                <a:latin typeface="Calibri"/>
              </a:rPr>
              <a:t>Problem Statement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12529"/>
                </a:solidFill>
                <a:latin typeface="Calibri"/>
              </a:rPr>
              <a:t>Centralized Academia–Industry Collaboration Portal (Skill development, internships &amp; placements)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3794760"/>
            <a:ext cx="3383280" cy="148132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24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7A3B"/>
                </a:solidFill>
                <a:latin typeface="Calibri"/>
              </a:rPr>
              <a:t>Theme / Category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12529"/>
                </a:solidFill>
                <a:latin typeface="Calibri"/>
              </a:rPr>
              <a:t>Smart Education  ·  PS Category: 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3794760"/>
            <a:ext cx="3383280" cy="148132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24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7A3B"/>
                </a:solidFill>
                <a:latin typeface="Calibri"/>
              </a:rPr>
              <a:t>Team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212529"/>
                </a:solidFill>
                <a:latin typeface="Calibri"/>
              </a:rPr>
              <a:t>ZENCODERSS  ·  Team ID: __________  ·  SIH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B636B"/>
                </a:solidFill>
                <a:latin typeface="Calibri"/>
              </a:rPr>
              <a:t>One platform for </a:t>
            </a:r>
            <a:r>
              <a:rPr sz="1500" b="1">
                <a:solidFill>
                  <a:srgbClr val="1E9E4D"/>
                </a:solidFill>
                <a:latin typeface="Calibri"/>
              </a:rPr>
              <a:t>Students</a:t>
            </a:r>
            <a:r>
              <a:rPr sz="1500" b="0">
                <a:solidFill>
                  <a:srgbClr val="5B636B"/>
                </a:solidFill>
                <a:latin typeface="Calibri"/>
              </a:rPr>
              <a:t> · </a:t>
            </a:r>
            <a:r>
              <a:rPr sz="1500" b="1">
                <a:solidFill>
                  <a:srgbClr val="F26522"/>
                </a:solidFill>
                <a:latin typeface="Calibri"/>
              </a:rPr>
              <a:t>Industries</a:t>
            </a:r>
            <a:r>
              <a:rPr sz="1500" b="0">
                <a:solidFill>
                  <a:srgbClr val="5B636B"/>
                </a:solidFill>
                <a:latin typeface="Calibri"/>
              </a:rPr>
              <a:t> · </a:t>
            </a:r>
            <a:r>
              <a:rPr sz="1500" b="1">
                <a:solidFill>
                  <a:srgbClr val="16395B"/>
                </a:solidFill>
                <a:latin typeface="Calibri"/>
              </a:rPr>
              <a:t>Academicians</a:t>
            </a:r>
            <a:r>
              <a:rPr sz="1500" b="0">
                <a:solidFill>
                  <a:srgbClr val="5B636B"/>
                </a:solidFill>
                <a:latin typeface="Calibri"/>
              </a:rPr>
              <a:t> · </a:t>
            </a:r>
            <a:r>
              <a:rPr sz="1500" b="1">
                <a:solidFill>
                  <a:srgbClr val="167A3B"/>
                </a:solidFill>
                <a:latin typeface="Calibri"/>
              </a:rPr>
              <a:t>Institutions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ea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874519"/>
            <a:ext cx="3657600" cy="157276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778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7A3B"/>
                </a:solidFill>
                <a:latin typeface="Calibri"/>
              </a:rPr>
              <a:t>STUDENTS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Cannot identify the right skills for their dream role or find relevant learning paths.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5112" y="1874519"/>
            <a:ext cx="3657600" cy="1572768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778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B34A12"/>
                </a:solidFill>
                <a:latin typeface="Calibri"/>
              </a:rPr>
              <a:t>INDUSTRIES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Struggle to find candidates with verified, job-ready skill sets. Listing portals don't prove 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47304" y="1874519"/>
            <a:ext cx="3657600" cy="1572768"/>
          </a:xfrm>
          <a:prstGeom prst="roundRect">
            <a:avLst>
              <a:gd name="adj" fmla="val 12000"/>
            </a:avLst>
          </a:prstGeom>
          <a:solidFill>
            <a:srgbClr val="E9EFF6"/>
          </a:solidFill>
          <a:ln w="17780">
            <a:solidFill>
              <a:srgbClr val="163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6395B"/>
                </a:solidFill>
                <a:latin typeface="Calibri"/>
              </a:rPr>
              <a:t>ACADEMICIANS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No visibility into industry internships, FDPs and practices to align teaching with industry.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03320"/>
            <a:ext cx="1118311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F26522"/>
                </a:solidFill>
                <a:latin typeface="Calibri"/>
              </a:rPr>
              <a:t>OUR IDEA — </a:t>
            </a:r>
            <a:r>
              <a:rPr sz="1700" b="1">
                <a:solidFill>
                  <a:srgbClr val="1E9E4D"/>
                </a:solidFill>
                <a:latin typeface="Calibri"/>
              </a:rPr>
              <a:t>AVSAR </a:t>
            </a:r>
            <a:r>
              <a:rPr sz="1700" b="0">
                <a:solidFill>
                  <a:srgbClr val="212529"/>
                </a:solidFill>
                <a:latin typeface="Calibri"/>
              </a:rPr>
              <a:t>bridges the gap: a single portal that </a:t>
            </a:r>
            <a:r>
              <a:rPr sz="1700" b="1">
                <a:solidFill>
                  <a:srgbClr val="16395B"/>
                </a:solidFill>
                <a:latin typeface="Calibri"/>
              </a:rPr>
              <a:t>assesses</a:t>
            </a:r>
            <a:r>
              <a:rPr sz="1700" b="0">
                <a:solidFill>
                  <a:srgbClr val="212529"/>
                </a:solidFill>
                <a:latin typeface="Calibri"/>
              </a:rPr>
              <a:t> a student's skills, </a:t>
            </a:r>
            <a:r>
              <a:rPr sz="1700" b="1">
                <a:solidFill>
                  <a:srgbClr val="16395B"/>
                </a:solidFill>
                <a:latin typeface="Calibri"/>
              </a:rPr>
              <a:t>closes gaps</a:t>
            </a:r>
            <a:r>
              <a:rPr sz="1700" b="0">
                <a:solidFill>
                  <a:srgbClr val="212529"/>
                </a:solidFill>
                <a:latin typeface="Calibri"/>
              </a:rPr>
              <a:t> with gamified upskilling, and matches </a:t>
            </a:r>
            <a:r>
              <a:rPr sz="1700" b="1">
                <a:solidFill>
                  <a:srgbClr val="16395B"/>
                </a:solidFill>
                <a:latin typeface="Calibri"/>
              </a:rPr>
              <a:t>verified talent</a:t>
            </a:r>
            <a:r>
              <a:rPr sz="1700" b="0">
                <a:solidFill>
                  <a:srgbClr val="212529"/>
                </a:solidFill>
                <a:latin typeface="Calibri"/>
              </a:rPr>
              <a:t> to genuine internships, jobs and faculty programs.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49240"/>
            <a:ext cx="3611880" cy="47548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 roles · 1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5349240"/>
            <a:ext cx="3611880" cy="47548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Score-gated genuine opportunities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5349240"/>
            <a:ext cx="3611880" cy="47548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Verified digital skill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201168"/>
            <a:ext cx="4754880" cy="65836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6949440" cy="539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Skill Assessment:</a:t>
            </a:r>
            <a:r>
              <a:rPr sz="1350" b="0">
                <a:solidFill>
                  <a:srgbClr val="212529"/>
                </a:solidFill>
                <a:latin typeface="Calibri"/>
              </a:rPr>
              <a:t> transparent ATS engine (0–95) + daily aptitude quizzes turn a resume into a verified skill profile with strengths &amp; gaps.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Skill Mapping:</a:t>
            </a:r>
            <a:r>
              <a:rPr sz="1350" b="0">
                <a:solidFill>
                  <a:srgbClr val="212529"/>
                </a:solidFill>
                <a:latin typeface="Calibri"/>
              </a:rPr>
              <a:t> gaps are ordered by live job demand and converted into a weekly roadmap — free course + build-task per skill.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Internship &amp; Job Matching:</a:t>
            </a:r>
            <a:r>
              <a:rPr sz="1350" b="0">
                <a:solidFill>
                  <a:srgbClr val="212529"/>
                </a:solidFill>
                <a:latin typeface="Calibri"/>
              </a:rPr>
              <a:t> industries post skill-tagged openings; listings unlock by MAIN score, students apply &amp; track in one pipeline.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Industry Learning Programs:</a:t>
            </a:r>
            <a:r>
              <a:rPr sz="1350" b="0">
                <a:solidFill>
                  <a:srgbClr val="212529"/>
                </a:solidFill>
                <a:latin typeface="Calibri"/>
              </a:rPr>
              <a:t> quests pair every skill with a course + mini-project with evidence URL — proof, not just certificates.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Academician Portal:</a:t>
            </a:r>
            <a:r>
              <a:rPr sz="1350" b="0">
                <a:solidFill>
                  <a:srgbClr val="212529"/>
                </a:solidFill>
                <a:latin typeface="Calibri"/>
              </a:rPr>
              <a:t> faculty explore FDPs, industrial training, consultancy and collaborative research boards.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Institution Analytics:</a:t>
            </a:r>
            <a:r>
              <a:rPr sz="1350" b="0">
                <a:solidFill>
                  <a:srgbClr val="212529"/>
                </a:solidFill>
                <a:latin typeface="Calibri"/>
              </a:rPr>
              <a:t> placement cells monitor cohort readiness, common skill gaps and export reports (CSV).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► </a:t>
            </a:r>
            <a:r>
              <a:rPr sz="1350" b="1">
                <a:solidFill>
                  <a:srgbClr val="16395B"/>
                </a:solidFill>
                <a:latin typeface="Calibri"/>
              </a:rPr>
              <a:t>Digital Portfolio:</a:t>
            </a:r>
            <a:r>
              <a:rPr sz="1350" b="0">
                <a:solidFill>
                  <a:srgbClr val="212529"/>
                </a:solidFill>
                <a:latin typeface="Calibri"/>
              </a:rPr>
              <a:t> shareable public profile with verified-skill ticks, proof-backed projects and achievements.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143000"/>
            <a:ext cx="4160520" cy="1673352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5240">
            <a:solidFill>
              <a:srgbClr val="B34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B34A12"/>
                </a:solidFill>
                <a:latin typeface="Calibri"/>
              </a:rPr>
              <a:t>#THE GAP WE CLOSE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Opportunities are listed everywhere, but nobody measures or builds the skill to grab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953512"/>
            <a:ext cx="4160520" cy="1673352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240">
            <a:solidFill>
              <a:srgbClr val="16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67A3B"/>
                </a:solidFill>
                <a:latin typeface="Calibri"/>
              </a:rPr>
              <a:t>#HOW AVSAR ADDRESSES IT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Assess → Upskill → Prove → Match → Showcase. Every listing is gated by a verified score, so genuine talent surfaces.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764024"/>
            <a:ext cx="4160520" cy="1673352"/>
          </a:xfrm>
          <a:prstGeom prst="roundRect">
            <a:avLst>
              <a:gd name="adj" fmla="val 12000"/>
            </a:avLst>
          </a:prstGeom>
          <a:solidFill>
            <a:srgbClr val="E9EFF6"/>
          </a:solidFill>
          <a:ln w="15240">
            <a:solidFill>
              <a:srgbClr val="163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6395B"/>
                </a:solidFill>
                <a:latin typeface="Calibri"/>
              </a:rPr>
              <a:t>#INNOVATION &amp; UNIQUENESS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Proof-backed scoring (evidence URLs, seeded quizzes), gamified quests, offline-first privacy — resume never leaves the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201168"/>
            <a:ext cx="4754880" cy="65836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AVSAR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9991" y="1417320"/>
            <a:ext cx="2121408" cy="1783080"/>
          </a:xfrm>
          <a:prstGeom prst="roundRect">
            <a:avLst>
              <a:gd name="adj" fmla="val 14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1. ANALYZE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Upload resume → instant ATS score (0–95), 5-part breakdown + missing skills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5115" y="2171700"/>
            <a:ext cx="173736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2567" y="1417320"/>
            <a:ext cx="2121408" cy="1783080"/>
          </a:xfrm>
          <a:prstGeom prst="roundRect">
            <a:avLst>
              <a:gd name="adj" fmla="val 14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2. UPSKILL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Daily quiz, quest tree &amp; free courses; weekly roadmap ordered by job demand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7691" y="2171700"/>
            <a:ext cx="173736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35143" y="1417320"/>
            <a:ext cx="2121408" cy="1783080"/>
          </a:xfrm>
          <a:prstGeom prst="roundRect">
            <a:avLst>
              <a:gd name="adj" fmla="val 14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3. PROVE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Mock interviews (voice/typed) + evidence URLs, GitHub &amp; certificates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70267" y="2171700"/>
            <a:ext cx="173736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57719" y="1417320"/>
            <a:ext cx="2121408" cy="1783080"/>
          </a:xfrm>
          <a:prstGeom prst="roundRect">
            <a:avLst>
              <a:gd name="adj" fmla="val 14000"/>
            </a:avLst>
          </a:prstGeom>
          <a:solidFill>
            <a:srgbClr val="16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4. MATCH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Jobs &amp; internships unlock by MAIN score; apply + track in one pipeline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92843" y="2171700"/>
            <a:ext cx="173736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0295" y="1417320"/>
            <a:ext cx="2121408" cy="1783080"/>
          </a:xfrm>
          <a:prstGeom prst="roundRect">
            <a:avLst>
              <a:gd name="adj" fmla="val 14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5. SHOWCASE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Public verified portfolio, kudos &amp; private college leaderboard battle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450695" y="3520440"/>
            <a:ext cx="9290304" cy="310896"/>
          </a:xfrm>
          <a:prstGeom prst="leftArrow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991" y="3858768"/>
            <a:ext cx="11411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1">
                <a:solidFill>
                  <a:srgbClr val="5B636B"/>
                </a:solidFill>
                <a:latin typeface="Calibri"/>
              </a:rPr>
              <a:t>the loop repeats — re-upload an improved resume, the score rises, more jobs unlock (retention by design)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3484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6395B"/>
                </a:solidFill>
                <a:latin typeface="Calibri"/>
              </a:rPr>
              <a:t>ONE PLATFORM — FOUR ROLE-BASED PORTALS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139" y="489204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651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400" b="1">
                <a:solidFill>
                  <a:srgbClr val="167A3B"/>
                </a:solidFill>
                <a:latin typeface="Calibri"/>
              </a:rPr>
              <a:t>STUDENT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full loop above: assess, learn, prove, apply, showcase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3211" y="489204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651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400" b="1">
                <a:solidFill>
                  <a:srgbClr val="B34A12"/>
                </a:solidFill>
                <a:latin typeface="Calibri"/>
              </a:rPr>
              <a:t>INDUSTRY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post skill-tagged internships &amp; jobs, view applicant counts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5283" y="489204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E9EFF6"/>
          </a:solidFill>
          <a:ln w="16510">
            <a:solidFill>
              <a:srgbClr val="163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400" b="1">
                <a:solidFill>
                  <a:srgbClr val="16395B"/>
                </a:solidFill>
                <a:latin typeface="Calibri"/>
              </a:rPr>
              <a:t>ACADEMICIAN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FDPs, industrial training, consultancy &amp; research 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7355" y="489204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F3E9F7"/>
          </a:solidFill>
          <a:ln w="1651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400" b="1">
                <a:solidFill>
                  <a:srgbClr val="8E44AD"/>
                </a:solidFill>
                <a:latin typeface="Calibri"/>
              </a:rPr>
              <a:t>INSTITUTION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cohort readiness dashboards, gap analytics,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paproach]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1051560"/>
            <a:ext cx="55778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8288" bIns="18288"/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E9E4D"/>
                </a:solidFill>
                <a:latin typeface="Calibri"/>
              </a:rPr>
              <a:t>FRONTEND  —  </a:t>
            </a:r>
            <a:r>
              <a:rPr sz="1050" b="0">
                <a:solidFill>
                  <a:srgbClr val="212529"/>
                </a:solidFill>
                <a:latin typeface="Calibri"/>
              </a:rPr>
              <a:t>React 19 + Vite + Tailwind v4 + React Router — 12 routes, one per role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37943"/>
            <a:ext cx="55778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6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8288" bIns="18288"/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67A3B"/>
                </a:solidFill>
                <a:latin typeface="Calibri"/>
              </a:rPr>
              <a:t>CORE LOGIC (pure, tested)  —  </a:t>
            </a:r>
            <a:r>
              <a:rPr sz="1050" b="0">
                <a:solidFill>
                  <a:srgbClr val="212529"/>
                </a:solidFill>
                <a:latin typeface="Calibri"/>
              </a:rPr>
              <a:t>ATS scoring, MAIN score, roadmap generator, job matching — 48 unit tests, all green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624327"/>
            <a:ext cx="55778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8288" bIns="18288"/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F26522"/>
                </a:solidFill>
                <a:latin typeface="Calibri"/>
              </a:rPr>
              <a:t>DATA  —  </a:t>
            </a:r>
            <a:r>
              <a:rPr sz="1050" b="0">
                <a:solidFill>
                  <a:srgbClr val="212529"/>
                </a:solidFill>
                <a:latin typeface="Calibri"/>
              </a:rPr>
              <a:t>Curated + scraper-generated seeds (Naukri, Greenhouse, Lever, Ashby) · localStorage offline-first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410711"/>
            <a:ext cx="55778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63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8288" bIns="18288"/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6395B"/>
                </a:solidFill>
                <a:latin typeface="Calibri"/>
              </a:rPr>
              <a:t>CLOUD (optional)  —  </a:t>
            </a:r>
            <a:r>
              <a:rPr sz="1050" b="0">
                <a:solidFill>
                  <a:srgbClr val="212529"/>
                </a:solidFill>
                <a:latin typeface="Calibri"/>
              </a:rPr>
              <a:t>Supabase Postgres — profiles, assessments, jobs, pipeline events (schema ready)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97096"/>
            <a:ext cx="55778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8288" bIns="18288"/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8E44AD"/>
                </a:solidFill>
                <a:latin typeface="Calibri"/>
              </a:rPr>
              <a:t>AI (optional)  —  </a:t>
            </a:r>
            <a:r>
              <a:rPr sz="1050" b="0">
                <a:solidFill>
                  <a:srgbClr val="212529"/>
                </a:solidFill>
                <a:latin typeface="Calibri"/>
              </a:rPr>
              <a:t>Gemini 1.5 Flash + Groq — AI coach, question sets, resume rewrite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983480"/>
            <a:ext cx="55778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8288" bIns="18288"/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0E7C86"/>
                </a:solidFill>
                <a:latin typeface="Calibri"/>
              </a:rPr>
              <a:t>INTEGRATIONS  —  </a:t>
            </a:r>
            <a:r>
              <a:rPr sz="1050" b="0">
                <a:solidFill>
                  <a:srgbClr val="212529"/>
                </a:solidFill>
                <a:latin typeface="Calibri"/>
              </a:rPr>
              <a:t>pdfjs (in-browser resume parsing) · Web Speech API (voice interviews) · Remotive live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98755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6395B"/>
                </a:solidFill>
                <a:latin typeface="Calibri"/>
              </a:rPr>
              <a:t>SYSTEM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4389120" cy="777240"/>
          </a:xfrm>
          <a:prstGeom prst="roundRect">
            <a:avLst>
              <a:gd name="adj" fmla="val 14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REACT UI (12 routes)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Student · Industry · Faculty · Institute portals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052560" y="2176272"/>
            <a:ext cx="274320" cy="237744"/>
          </a:xfrm>
          <a:prstGeom prst="down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2450592"/>
            <a:ext cx="4389120" cy="777240"/>
          </a:xfrm>
          <a:prstGeom prst="roundRect">
            <a:avLst>
              <a:gd name="adj" fmla="val 14000"/>
            </a:avLst>
          </a:prstGeom>
          <a:solidFill>
            <a:srgbClr val="16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PURE LOGIC LAYER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scoring · matching · roadmap · coach — runs 100% offline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52560" y="3255264"/>
            <a:ext cx="274320" cy="237744"/>
          </a:xfrm>
          <a:prstGeom prst="down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3529584"/>
            <a:ext cx="4389120" cy="777240"/>
          </a:xfrm>
          <a:prstGeom prst="roundRect">
            <a:avLst>
              <a:gd name="adj" fmla="val 14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SEED DATA + localStorage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jobs · quizzes · quests · courses — zero server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572000"/>
            <a:ext cx="4389120" cy="9601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240">
            <a:solidFill>
              <a:srgbClr val="5B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5B636B"/>
                </a:solidFill>
                <a:latin typeface="Calibri"/>
              </a:rPr>
              <a:t>OPTIONAL ADAPTERS (best-effort)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Supabase sync · Gemini / Groq AI · Remotive live feed</a:t>
            </a:r>
          </a:p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000" b="0" i="1">
                <a:solidFill>
                  <a:srgbClr val="5B636B"/>
                </a:solidFill>
                <a:latin typeface="Calibri"/>
              </a:rPr>
              <a:t>no key / no network → local fallback answers, nothing breaks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4306824"/>
            <a:ext cx="0" cy="265176"/>
          </a:xfrm>
          <a:prstGeom prst="bentConnector3">
            <a:avLst/>
          </a:prstGeom>
          <a:ln w="19050">
            <a:solidFill>
              <a:srgbClr val="5B63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562356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395B"/>
                </a:solidFill>
                <a:latin typeface="Calibri"/>
              </a:rPr>
              <a:t>Design rule: </a:t>
            </a:r>
            <a:r>
              <a:rPr sz="1250" b="0" i="1">
                <a:solidFill>
                  <a:srgbClr val="212529"/>
                </a:solidFill>
                <a:latin typeface="Calibri"/>
              </a:rPr>
              <a:t>deterministic core, optional AI — the cloud upgrades the app, it never gates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26967" y="201168"/>
            <a:ext cx="4937760" cy="658368"/>
          </a:xfrm>
          <a:prstGeom prst="roundRect">
            <a:avLst>
              <a:gd name="adj" fmla="val 50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SCORING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5B636B"/>
                </a:solidFill>
                <a:latin typeface="Calibri"/>
              </a:rPr>
              <a:t>Every opportunity on Avsar is unlocked by a transparent, anti-cheat score — not by who applies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7490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350" b="1">
                <a:solidFill>
                  <a:srgbClr val="1E9E4D"/>
                </a:solidFill>
                <a:latin typeface="Calibri"/>
              </a:rPr>
              <a:t>RESUME → ATS (0–95)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Skills 30 · Keywords 20 · Projects 25 · Format 15 · Impact 10
Cap 95 = headroom to improve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15968" y="2075688"/>
            <a:ext cx="457200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37490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350" b="1">
                <a:solidFill>
                  <a:srgbClr val="F26522"/>
                </a:solidFill>
                <a:latin typeface="Calibri"/>
              </a:rPr>
              <a:t>QUIZ (0–100)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10 questions daily, seeded per student-ID + day — fresh but fair, anti-copying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15968" y="3493008"/>
            <a:ext cx="457200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434840"/>
            <a:ext cx="37490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63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350" b="1">
                <a:solidFill>
                  <a:srgbClr val="16395B"/>
                </a:solidFill>
                <a:latin typeface="Calibri"/>
              </a:rPr>
              <a:t>PROOF (0–100)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212529"/>
                </a:solidFill>
                <a:latin typeface="Calibri"/>
              </a:rPr>
              <a:t>quest pairs × 20 — each = course + mini-project + evidence URL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15968" y="4910327"/>
            <a:ext cx="457200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2286000"/>
            <a:ext cx="2834640" cy="1737360"/>
          </a:xfrm>
          <a:prstGeom prst="roundRect">
            <a:avLst>
              <a:gd name="adj" fmla="val 12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MAIN SCORE (0–100)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Tech: 0.5·ATS + 0.3·Quiz + 0.2·Proof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Non-tech: 0.6·ATS + 0.3·Quiz + 0.1·Proof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C9D6E3"/>
                </a:solidFill>
                <a:latin typeface="Calibri"/>
              </a:rPr>
              <a:t>tech hiring weights proof-of-work higher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18120" y="3017520"/>
            <a:ext cx="457200" cy="274320"/>
          </a:xfrm>
          <a:prstGeom prst="rightArrow">
            <a:avLst/>
          </a:prstGeom>
          <a:solidFill>
            <a:srgbClr val="5B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1600200"/>
            <a:ext cx="32918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6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67A3B"/>
                </a:solidFill>
                <a:latin typeface="Calibri"/>
              </a:rPr>
              <a:t>RANKS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Diamond 90+ · Platinum 80+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Gold 65+ · Silver 50+ · Bronze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 i="1">
                <a:solidFill>
                  <a:srgbClr val="5B636B"/>
                </a:solidFill>
                <a:latin typeface="Calibri"/>
              </a:rPr>
              <a:t>ranks gate what a student can apply to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875520" y="3611880"/>
            <a:ext cx="274320" cy="320040"/>
          </a:xfrm>
          <a:prstGeom prst="downArrow">
            <a:avLst/>
          </a:prstGeom>
          <a:solidFill>
            <a:srgbClr val="16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402336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6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JOBS &amp; INTERNSHIPS UNLOCK</a:t>
            </a:r>
          </a:p>
          <a:p>
            <a:pPr algn="ctr">
              <a:lnSpc>
                <a:spcPct val="98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locked listings show the exact score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52160"/>
            <a:ext cx="11155680" cy="731520"/>
          </a:xfrm>
          <a:prstGeom prst="roundRect">
            <a:avLst>
              <a:gd name="adj" fmla="val 12000"/>
            </a:avLst>
          </a:prstGeom>
          <a:solidFill>
            <a:srgbClr val="E9EFF6"/>
          </a:solidFill>
          <a:ln w="15240">
            <a:solidFill>
              <a:srgbClr val="163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395B"/>
                </a:solidFill>
                <a:latin typeface="Calibri"/>
              </a:rPr>
              <a:t>Worked example: </a:t>
            </a:r>
            <a:r>
              <a:rPr sz="1250" b="0">
                <a:solidFill>
                  <a:srgbClr val="212529"/>
                </a:solidFill>
                <a:latin typeface="Calibri"/>
              </a:rPr>
              <a:t>ATS 80, Quiz 100, 5 quest pairs → Proof 100 → MAIN = 40+30+20 = 90 → Diamond → top-tier verified roles unlock.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61207" y="201168"/>
            <a:ext cx="5669280" cy="65836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PS REQUIREMENTS → AVSAR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842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08960"/>
                <a:gridCol w="4069080"/>
              </a:tblGrid>
              <a:tr h="51206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PS requirement</a:t>
                      </a:r>
                    </a:p>
                  </a:txBody>
                  <a:tcPr marT="27432" marB="27432">
                    <a:solidFill>
                      <a:srgbClr val="1E9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Avsar module</a:t>
                      </a:r>
                    </a:p>
                  </a:txBody>
                  <a:tcPr marT="27432" marB="27432">
                    <a:solidFill>
                      <a:srgbClr val="1E9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T="27432" marB="27432">
                    <a:solidFill>
                      <a:srgbClr val="1E9E4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Skill assessment via questionnaire / aptitude tests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ATS engine + daily seeded quizzes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5-part rubric per track; per-ID-per-day question sets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Skill profiling &amp; gap identification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Missing-skills + demand-ordered roadmap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gaps ranked by frequency across live job postings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Internship / job posting &amp; matching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Jobs portal with minScore gating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eligible-first sort by skill overlap; locked jobs show target score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Application &amp; placement tracking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Pipeline tracker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applied → interview → offer events, synced to cloud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Industry learning programs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Quests + free course links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every skill = course + build project + evidence URL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Faculty internships, FDPs, consultancy, research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Academician board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FDP listings with interest shelf; industry exposure programs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Institution dashboards &amp; analytics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Institute portal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cohort KPIs, average score by track, top gaps, CSV export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Verified digital portfolio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Portfolio + shareable link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verified-skill ticks, proof-backed projects, achievements</a:t>
                      </a:r>
                    </a:p>
                  </a:txBody>
                  <a:tcPr marT="18288" marB="18288" anchor="ctr">
                    <a:solidFill>
                      <a:srgbClr val="E7F5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Role-based access (4 roles)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Password-free C2C-ID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student / industry / academician / institution in one app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69767" y="201168"/>
            <a:ext cx="5852160" cy="658368"/>
          </a:xfrm>
          <a:prstGeom prst="roundRect">
            <a:avLst>
              <a:gd name="adj" fmla="val 50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51760" cy="1481328"/>
          </a:xfrm>
          <a:prstGeom prst="roundRect">
            <a:avLst>
              <a:gd name="adj" fmla="val 12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43000"/>
            <a:ext cx="8549640" cy="1481328"/>
          </a:xfrm>
          <a:prstGeom prst="roundRect">
            <a:avLst>
              <a:gd name="adj" fmla="val 8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212529"/>
                </a:solidFill>
                <a:latin typeface="Calibri"/>
              </a:rPr>
              <a:t>• Technical: </a:t>
            </a:r>
            <a:r>
              <a:rPr sz="1250" b="0">
                <a:solidFill>
                  <a:srgbClr val="212529"/>
                </a:solidFill>
                <a:latin typeface="Calibri"/>
              </a:rPr>
              <a:t>mature open-source stack; ships as a static site — scales horizontally for free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212529"/>
                </a:solidFill>
                <a:latin typeface="Calibri"/>
              </a:rPr>
              <a:t>• Financial: </a:t>
            </a:r>
            <a:r>
              <a:rPr sz="1250" b="0">
                <a:solidFill>
                  <a:srgbClr val="212529"/>
                </a:solidFill>
                <a:latin typeface="Calibri"/>
              </a:rPr>
              <a:t>zero server cost (local-first); AI/cloud on free tiers, strictly optional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212529"/>
                </a:solidFill>
                <a:latin typeface="Calibri"/>
              </a:rPr>
              <a:t>• Operational: </a:t>
            </a:r>
            <a:r>
              <a:rPr sz="1250" b="0">
                <a:solidFill>
                  <a:srgbClr val="212529"/>
                </a:solidFill>
                <a:latin typeface="Calibri"/>
              </a:rPr>
              <a:t>password-free C2C-ID — zero signup friction for mass student adoption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70632"/>
            <a:ext cx="2651760" cy="1481328"/>
          </a:xfrm>
          <a:prstGeom prst="roundRect">
            <a:avLst>
              <a:gd name="adj" fmla="val 12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CHALLENGES &amp;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70632"/>
            <a:ext cx="8549640" cy="1481328"/>
          </a:xfrm>
          <a:prstGeom prst="roundRect">
            <a:avLst>
              <a:gd name="adj" fmla="val 8000"/>
            </a:avLst>
          </a:prstGeom>
          <a:solidFill>
            <a:srgbClr val="FD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12529"/>
                </a:solidFill>
                <a:latin typeface="Calibri"/>
              </a:rPr>
              <a:t>• Fake or inflated skill scores killing trust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12529"/>
                </a:solidFill>
                <a:latin typeface="Calibri"/>
              </a:rPr>
              <a:t>• Student data privacy (resumes, scores)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12529"/>
                </a:solidFill>
                <a:latin typeface="Calibri"/>
              </a:rPr>
              <a:t>• Flaky campus networks; cold-start job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398264"/>
            <a:ext cx="2651760" cy="1481328"/>
          </a:xfrm>
          <a:prstGeom prst="roundRect">
            <a:avLst>
              <a:gd name="adj" fmla="val 12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MITIGATION STRATEGIES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398264"/>
            <a:ext cx="8549640" cy="1481328"/>
          </a:xfrm>
          <a:prstGeom prst="roundRect">
            <a:avLst>
              <a:gd name="adj" fmla="val 8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12529"/>
                </a:solidFill>
                <a:latin typeface="Calibri"/>
              </a:rPr>
              <a:t>• Proof needs evidence URLs; quizzes seeded per ID+day; quest variants hashed per student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12529"/>
                </a:solidFill>
                <a:latin typeface="Calibri"/>
              </a:rPr>
              <a:t>• Resume parsed in-browser (pdfjs) — never leaves the device; leaderboards show aggregates only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12529"/>
                </a:solidFill>
                <a:latin typeface="Calibri"/>
              </a:rPr>
              <a:t>• Offline-first with best-effort sync; scrapers seed live boards (Naukri, Greenhouse, Lever, Ashby)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6035040"/>
            <a:ext cx="11338560" cy="56692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5B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167A3B"/>
                </a:solidFill>
                <a:latin typeface="Calibri"/>
              </a:rPr>
              <a:t>Already built &amp; verified: </a:t>
            </a:r>
            <a:r>
              <a:rPr sz="1250" b="0">
                <a:solidFill>
                  <a:srgbClr val="212529"/>
                </a:solidFill>
                <a:latin typeface="Calibri"/>
              </a:rPr>
              <a:t>working prototype · 48/48 unit tests green · production build passes · offline demo-safe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5527" y="201168"/>
            <a:ext cx="5120640" cy="65836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8279" y="1143000"/>
            <a:ext cx="2761488" cy="502920"/>
          </a:xfrm>
          <a:prstGeom prst="roundRect">
            <a:avLst>
              <a:gd name="adj" fmla="val 25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FOR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8279" y="1719072"/>
            <a:ext cx="2761488" cy="2651760"/>
          </a:xfrm>
          <a:prstGeom prst="roundRect">
            <a:avLst>
              <a:gd name="adj" fmla="val 6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Clarity on exactly which skills to learn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Verified portfolio that speaks louder than a resume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Access to genuine, score-gated internships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9495" y="1143000"/>
            <a:ext cx="2761488" cy="502920"/>
          </a:xfrm>
          <a:prstGeom prst="roundRect">
            <a:avLst>
              <a:gd name="adj" fmla="val 25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FOR INDUSTRY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9495" y="1719072"/>
            <a:ext cx="2761488" cy="2651760"/>
          </a:xfrm>
          <a:prstGeom prst="roundRect">
            <a:avLst>
              <a:gd name="adj" fmla="val 6000"/>
            </a:avLst>
          </a:prstGeom>
          <a:solidFill>
            <a:srgbClr val="FD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Pre-assessed, skill-tagged candidate pool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Lower screening &amp; fresher-training cost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Direct channel for training programs &amp; mentorship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0711" y="1143000"/>
            <a:ext cx="2761488" cy="502920"/>
          </a:xfrm>
          <a:prstGeom prst="roundRect">
            <a:avLst>
              <a:gd name="adj" fmla="val 25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FOR ACADEMICIANS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0711" y="1719072"/>
            <a:ext cx="2761488" cy="2651760"/>
          </a:xfrm>
          <a:prstGeom prst="roundRect">
            <a:avLst>
              <a:gd name="adj" fmla="val 6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Faculty internships, FDPs &amp; consultancy in one board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Industrial exposure to align teaching with practice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Collaborative research &amp; live-project bridges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1927" y="1143000"/>
            <a:ext cx="2761488" cy="502920"/>
          </a:xfrm>
          <a:prstGeom prst="roundRect">
            <a:avLst>
              <a:gd name="adj" fmla="val 25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FOR INSTITUTIONS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1927" y="1719072"/>
            <a:ext cx="2761488" cy="2651760"/>
          </a:xfrm>
          <a:prstGeom prst="roundRect">
            <a:avLst>
              <a:gd name="adj" fmla="val 6000"/>
            </a:avLst>
          </a:prstGeom>
          <a:solidFill>
            <a:srgbClr val="F3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/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Placement-readiness dashboards per cohort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Skill-gap trends to fix curriculum early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50">
                <a:solidFill>
                  <a:srgbClr val="212529"/>
                </a:solidFill>
                <a:latin typeface="Calibri"/>
              </a:rPr>
              <a:t>• Exportable reports for NAAC/NIRF-style reviews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8279" y="4617720"/>
            <a:ext cx="5632704" cy="155448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24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67A3B"/>
                </a:solidFill>
                <a:latin typeface="Calibri"/>
              </a:rPr>
              <a:t>SOCIAL IMPACT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Bridges the academia–industry gap at national scale; democratizes opportunity for tier-2/3 colleges; students train for roles that actually 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0711" y="4617720"/>
            <a:ext cx="5632704" cy="1554480"/>
          </a:xfrm>
          <a:prstGeom prst="roundRect">
            <a:avLst>
              <a:gd name="adj" fmla="val 12000"/>
            </a:avLst>
          </a:prstGeom>
          <a:solidFill>
            <a:srgbClr val="FDEEE5"/>
          </a:solidFill>
          <a:ln w="15240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B34A12"/>
                </a:solidFill>
                <a:latin typeface="Calibri"/>
              </a:rPr>
              <a:t>ECONOMIC IMPACT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212529"/>
                </a:solidFill>
                <a:latin typeface="Calibri"/>
              </a:rPr>
              <a:t>Cuts industry screening &amp; fresher-training spend; raises placement conversion per campus; data for policymakers on national skill-demand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201168"/>
            <a:ext cx="4572000" cy="658368"/>
          </a:xfrm>
          <a:prstGeom prst="roundRect">
            <a:avLst>
              <a:gd name="adj" fmla="val 50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AVSAR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1">
                <a:solidFill>
                  <a:srgbClr val="5B636B"/>
                </a:solidFill>
                <a:latin typeface="Calibri"/>
              </a:rPr>
              <a:t>Existing platforms list opportunities. Avsar builds the candidate.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51560" y="1463040"/>
          <a:ext cx="10058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1463040"/>
                <a:gridCol w="1463040"/>
                <a:gridCol w="1463040"/>
              </a:tblGrid>
              <a:tr h="56007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63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Internshala</a:t>
                      </a:r>
                    </a:p>
                  </a:txBody>
                  <a:tcPr>
                    <a:solidFill>
                      <a:srgbClr val="163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LinkedIn</a:t>
                      </a:r>
                    </a:p>
                  </a:txBody>
                  <a:tcPr>
                    <a:solidFill>
                      <a:srgbClr val="163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Unstop</a:t>
                      </a:r>
                    </a:p>
                  </a:txBody>
                  <a:tcPr>
                    <a:solidFill>
                      <a:srgbClr val="1639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AVSAR</a:t>
                      </a:r>
                    </a:p>
                  </a:txBody>
                  <a:tcPr>
                    <a:solidFill>
                      <a:srgbClr val="1E9E4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Skill assessment &amp; gap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52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Verified skill proof (evidence-backed)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Gamified upskilling (quests, streaks, ranks)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52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Score-gated genuine listings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Academician portal (FDP / consultancy)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Institution analytics dashboard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52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  <a:latin typeface="Calibri"/>
                        </a:rPr>
                        <a:t>Offline-first &amp; privacy-first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392B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7A3B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E7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84167" y="201168"/>
            <a:ext cx="4023360" cy="658368"/>
          </a:xfrm>
          <a:prstGeom prst="roundRect">
            <a:avLst>
              <a:gd name="adj" fmla="val 5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86400" cy="502920"/>
          </a:xfrm>
          <a:prstGeom prst="roundRect">
            <a:avLst>
              <a:gd name="adj" fmla="val 30000"/>
            </a:avLst>
          </a:prstGeom>
          <a:solidFill>
            <a:srgbClr val="16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NEXT (0–6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6395B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Live cloud leaderboard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wire Supabase battle leaderboard — biggest demo payoff, schema already written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6395B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AI-graded voice interviews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Gemini grades mock-interview transcripts for communication scoring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6395B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100% offline guarantee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vendor the pdfjs worker locally — removes the last network dependency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6395B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Institutional integrations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LMS / ERP / institutional database connectors for auto roster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86400" cy="502920"/>
          </a:xfrm>
          <a:prstGeom prst="roundRect">
            <a:avLst>
              <a:gd name="adj" fmla="val 30000"/>
            </a:avLst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PLATFORM PILLARS (6–24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E9E4D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XP for verified actions only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points for evidence URLs &amp; test passes — never for clicks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E9E4D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Certification tests with scarce badges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auto-graded skill tests; scarcity makes badges worth grinding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E9E4D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Clans + mentorship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skill groups with moderated chat; industry mentors join quests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E9E4D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Company squad-hire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hire verified skill-composed teams, not just individuals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1E9E4D"/>
                </a:solidFill>
                <a:latin typeface="Calibri"/>
              </a:rPr>
              <a:t>► </a:t>
            </a:r>
            <a:r>
              <a:rPr sz="1300" b="1">
                <a:solidFill>
                  <a:srgbClr val="212529"/>
                </a:solidFill>
                <a:latin typeface="Calibri"/>
              </a:rPr>
              <a:t>Policy analytics — </a:t>
            </a:r>
            <a:r>
              <a:rPr sz="1250" b="0">
                <a:solidFill>
                  <a:srgbClr val="5B636B"/>
                </a:solidFill>
                <a:latin typeface="Calibri"/>
              </a:rPr>
              <a:t>anonymized skill-demand trends for institutions &amp; policymakers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12529"/>
                </a:solidFill>
                <a:latin typeface="Calibri"/>
              </a:rPr>
              <a:t>Zencoderss</a:t>
            </a:r>
            <a:r>
              <a:rPr sz="2000" b="1">
                <a:solidFill>
                  <a:srgbClr val="F26522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1255" y="16459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SMART INDIA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B636B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1E9E4D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6395B"/>
                </a:solidFill>
                <a:latin typeface="Calibri"/>
              </a:rPr>
              <a:t>AVSAR</a:t>
            </a:r>
            <a:r>
              <a:rPr sz="2000" b="0" i="1">
                <a:solidFill>
                  <a:srgbClr val="5B636B"/>
                </a:solidFill>
                <a:latin typeface="Calibri"/>
              </a:rPr>
              <a:t>  —  har student ko sahi avsar.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3977639"/>
            <a:ext cx="4114800" cy="7315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7780">
            <a:solidFill>
              <a:srgbClr val="1E9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67A3B"/>
                </a:solidFill>
                <a:latin typeface="Calibri"/>
              </a:rPr>
              <a:t>Team ZENCODERSS · SIH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B636B"/>
                </a:solidFill>
                <a:latin typeface="Calibri"/>
              </a:rPr>
              <a:t>Working prototype · 48/48 tests green · offline-demo 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E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