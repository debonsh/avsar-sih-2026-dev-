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ityscape silhouette: students, colleges, hospitals, offices and a growth chart, representing the academia and industry the portal connec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116527"/>
            <a:ext cx="12191695" cy="2576881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693408"/>
            <a:ext cx="12191695" cy="82296"/>
          </a:xfrm>
          <a:prstGeom prst="rect">
            <a:avLst/>
          </a:prstGeom>
          <a:solidFill>
            <a:srgbClr val="0B2A4A"/>
          </a:solidFill>
          <a:ln/>
        </p:spPr>
      </p:sp>
      <p:pic>
        <p:nvPicPr>
          <p:cNvPr id="4" name="Image 1" descr="Team Zencoderss wordmar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73736"/>
            <a:ext cx="1876349" cy="43434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2598268" y="137160"/>
            <a:ext cx="6995160" cy="530352"/>
          </a:xfrm>
          <a:prstGeom prst="roundRect">
            <a:avLst>
              <a:gd name="adj" fmla="val 86207"/>
            </a:avLst>
          </a:prstGeom>
          <a:solidFill>
            <a:srgbClr val="0B2A4A"/>
          </a:solidFill>
          <a:ln/>
        </p:spPr>
      </p:sp>
      <p:sp>
        <p:nvSpPr>
          <p:cNvPr id="6" name="Text 2"/>
          <p:cNvSpPr/>
          <p:nvPr/>
        </p:nvSpPr>
        <p:spPr>
          <a:xfrm>
            <a:off x="2598268" y="137160"/>
            <a:ext cx="6995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spc="1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INDIA HACKATHON 2026</a:t>
            </a:r>
            <a:endParaRPr lang="en-US" sz="1700" dirty="0"/>
          </a:p>
        </p:txBody>
      </p:sp>
      <p:sp>
        <p:nvSpPr>
          <p:cNvPr id="7" name="Text 3"/>
          <p:cNvSpPr/>
          <p:nvPr/>
        </p:nvSpPr>
        <p:spPr>
          <a:xfrm>
            <a:off x="10506456" y="192024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0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INDIA HACKATHON</a:t>
            </a:r>
            <a:endParaRPr lang="en-US" sz="900" dirty="0"/>
          </a:p>
          <a:p>
            <a:pPr algn="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0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</a:t>
            </a:r>
            <a:endParaRPr lang="en-US" sz="900" dirty="0"/>
          </a:p>
        </p:txBody>
      </p:sp>
      <p:pic>
        <p:nvPicPr>
          <p:cNvPr id="8" name="Image 2" descr="Smart India Hackathon 2026 official log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9069" y="155448"/>
            <a:ext cx="504235" cy="566928"/>
          </a:xfrm>
          <a:prstGeom prst="rect">
            <a:avLst/>
          </a:prstGeom>
        </p:spPr>
      </p:pic>
      <p:pic>
        <p:nvPicPr>
          <p:cNvPr id="9" name="Image 3" descr="Avsar logo: a green mark of ascending bars reaching a star, with the strapline Skills Today, Opportunities Tomorrow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5648" y="987552"/>
            <a:ext cx="3200400" cy="800100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658368" y="2084832"/>
            <a:ext cx="10874959" cy="3401568"/>
          </a:xfrm>
          <a:prstGeom prst="roundRect">
            <a:avLst>
              <a:gd name="adj" fmla="val 1613"/>
            </a:avLst>
          </a:prstGeom>
          <a:solidFill>
            <a:srgbClr val="F7F8FA"/>
          </a:solidFill>
          <a:ln w="19050">
            <a:prstDash val="solid"/>
          </a:ln>
        </p:spPr>
      </p:sp>
      <p:sp>
        <p:nvSpPr>
          <p:cNvPr id="11" name="Text 5"/>
          <p:cNvSpPr/>
          <p:nvPr/>
        </p:nvSpPr>
        <p:spPr>
          <a:xfrm>
            <a:off x="969264" y="2359152"/>
            <a:ext cx="10253167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205000"/>
              </a:lnSpc>
              <a:buNone/>
            </a:pPr>
            <a:r>
              <a:rPr lang="en-US" sz="1350" b="1" dirty="0">
                <a:solidFill>
                  <a:srgbClr val="B02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 Statement ID:- </a:t>
            </a:r>
            <a:pPr indent="0" marL="0">
              <a:lnSpc>
                <a:spcPct val="205000"/>
              </a:lnSpc>
              <a:buNone/>
            </a:pPr>
            <a:r>
              <a:rPr lang="en-US" sz="1350" b="1" dirty="0">
                <a:solidFill>
                  <a:srgbClr val="1B3A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26044</a:t>
            </a:r>
            <a:endParaRPr lang="en-US" sz="1350" dirty="0"/>
          </a:p>
          <a:p>
            <a:pPr indent="0" marL="0">
              <a:lnSpc>
                <a:spcPct val="205000"/>
              </a:lnSpc>
              <a:buNone/>
            </a:pPr>
            <a:r>
              <a:rPr lang="en-US" sz="1350" b="1" dirty="0">
                <a:solidFill>
                  <a:srgbClr val="B02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 Statement Title:- </a:t>
            </a:r>
            <a:pPr indent="0" marL="0">
              <a:lnSpc>
                <a:spcPct val="205000"/>
              </a:lnSpc>
              <a:buNone/>
            </a:pPr>
            <a:r>
              <a:rPr lang="en-US" sz="1350" b="1" dirty="0">
                <a:solidFill>
                  <a:srgbClr val="1B3A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Portal for Academia - Industry collaboration for Skill Mapping, Internships and Placement</a:t>
            </a:r>
            <a:endParaRPr lang="en-US" sz="1350" dirty="0"/>
          </a:p>
          <a:p>
            <a:pPr indent="0" marL="0">
              <a:lnSpc>
                <a:spcPct val="205000"/>
              </a:lnSpc>
              <a:buNone/>
            </a:pPr>
            <a:r>
              <a:rPr lang="en-US" sz="1350" b="1" dirty="0">
                <a:solidFill>
                  <a:srgbClr val="B02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Theme:- </a:t>
            </a:r>
            <a:pPr indent="0" marL="0">
              <a:lnSpc>
                <a:spcPct val="205000"/>
              </a:lnSpc>
              <a:buNone/>
            </a:pPr>
            <a:r>
              <a:rPr lang="en-US" sz="1350" b="1" dirty="0">
                <a:solidFill>
                  <a:srgbClr val="1B3A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Automation</a:t>
            </a:r>
            <a:endParaRPr lang="en-US" sz="1350" dirty="0"/>
          </a:p>
          <a:p>
            <a:pPr indent="0" marL="0">
              <a:lnSpc>
                <a:spcPct val="205000"/>
              </a:lnSpc>
              <a:buNone/>
            </a:pPr>
            <a:r>
              <a:rPr lang="en-US" sz="1350" b="1" dirty="0">
                <a:solidFill>
                  <a:srgbClr val="B02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PS Category:- </a:t>
            </a:r>
            <a:pPr indent="0" marL="0">
              <a:lnSpc>
                <a:spcPct val="205000"/>
              </a:lnSpc>
              <a:buNone/>
            </a:pPr>
            <a:r>
              <a:rPr lang="en-US" sz="1350" b="1" dirty="0">
                <a:solidFill>
                  <a:srgbClr val="1B3A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Software</a:t>
            </a:r>
            <a:endParaRPr lang="en-US" sz="1350" dirty="0"/>
          </a:p>
          <a:p>
            <a:pPr indent="0" marL="0">
              <a:lnSpc>
                <a:spcPct val="205000"/>
              </a:lnSpc>
              <a:buNone/>
            </a:pPr>
            <a:r>
              <a:rPr lang="en-US" sz="1350" b="1" dirty="0">
                <a:solidFill>
                  <a:srgbClr val="B02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ID:- </a:t>
            </a:r>
            <a:pPr indent="0" marL="0">
              <a:lnSpc>
                <a:spcPct val="205000"/>
              </a:lnSpc>
              <a:buNone/>
            </a:pPr>
            <a:r>
              <a:rPr lang="en-US" sz="1350" i="1" dirty="0">
                <a:solidFill>
                  <a:srgbClr val="8A9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be filled from the portal</a:t>
            </a:r>
            <a:endParaRPr lang="en-US" sz="1350" dirty="0"/>
          </a:p>
          <a:p>
            <a:pPr indent="0" marL="0">
              <a:lnSpc>
                <a:spcPct val="205000"/>
              </a:lnSpc>
              <a:buNone/>
            </a:pPr>
            <a:r>
              <a:rPr lang="en-US" sz="1350" b="1" dirty="0">
                <a:solidFill>
                  <a:srgbClr val="B02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Name:- </a:t>
            </a:r>
            <a:pPr indent="0" marL="0">
              <a:lnSpc>
                <a:spcPct val="205000"/>
              </a:lnSpc>
              <a:buNone/>
            </a:pPr>
            <a:r>
              <a:rPr lang="en-US" sz="1350" b="1" dirty="0">
                <a:solidFill>
                  <a:srgbClr val="1B3A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Zencoderss</a:t>
            </a:r>
            <a:endParaRPr lang="en-US" sz="1350" dirty="0"/>
          </a:p>
          <a:p>
            <a:pPr indent="0" marL="0">
              <a:lnSpc>
                <a:spcPct val="205000"/>
              </a:lnSpc>
              <a:buNone/>
            </a:pPr>
            <a:r>
              <a:rPr lang="en-US" sz="1350" b="1" dirty="0">
                <a:solidFill>
                  <a:srgbClr val="B02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Organisation:- </a:t>
            </a:r>
            <a:pPr indent="0" marL="0">
              <a:lnSpc>
                <a:spcPct val="205000"/>
              </a:lnSpc>
              <a:buNone/>
            </a:pPr>
            <a:r>
              <a:rPr lang="en-US" sz="1350" b="1" dirty="0">
                <a:solidFill>
                  <a:srgbClr val="1B3A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Ministry of Ayush — All India Institute of Ayurveda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ityscape silhouette: students, colleges, hospitals, offices and a growth chart, representing the academia and industry the portal connec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116527"/>
            <a:ext cx="12191695" cy="2576881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693408"/>
            <a:ext cx="12191695" cy="82296"/>
          </a:xfrm>
          <a:prstGeom prst="rect">
            <a:avLst/>
          </a:prstGeom>
          <a:solidFill>
            <a:srgbClr val="138808"/>
          </a:solidFill>
          <a:ln/>
        </p:spPr>
      </p:sp>
      <p:pic>
        <p:nvPicPr>
          <p:cNvPr id="4" name="Image 1" descr="Team Zencoderss wordmar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73736"/>
            <a:ext cx="1876349" cy="43434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053432" y="137160"/>
            <a:ext cx="2084832" cy="530352"/>
          </a:xfrm>
          <a:prstGeom prst="roundRect">
            <a:avLst>
              <a:gd name="adj" fmla="val 86207"/>
            </a:avLst>
          </a:prstGeom>
          <a:solidFill>
            <a:srgbClr val="138808"/>
          </a:solidFill>
          <a:ln/>
        </p:spPr>
      </p:sp>
      <p:sp>
        <p:nvSpPr>
          <p:cNvPr id="6" name="Text 2"/>
          <p:cNvSpPr/>
          <p:nvPr/>
        </p:nvSpPr>
        <p:spPr>
          <a:xfrm>
            <a:off x="5053432" y="137160"/>
            <a:ext cx="20848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spc="1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 TITLE</a:t>
            </a:r>
            <a:endParaRPr lang="en-US" sz="1700" dirty="0"/>
          </a:p>
        </p:txBody>
      </p:sp>
      <p:sp>
        <p:nvSpPr>
          <p:cNvPr id="7" name="Text 3"/>
          <p:cNvSpPr/>
          <p:nvPr/>
        </p:nvSpPr>
        <p:spPr>
          <a:xfrm>
            <a:off x="10506456" y="192024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0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INDIA HACKATHON</a:t>
            </a:r>
            <a:endParaRPr lang="en-US" sz="900" dirty="0"/>
          </a:p>
          <a:p>
            <a:pPr algn="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0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</a:t>
            </a:r>
            <a:endParaRPr lang="en-US" sz="900" dirty="0"/>
          </a:p>
        </p:txBody>
      </p:sp>
      <p:pic>
        <p:nvPicPr>
          <p:cNvPr id="8" name="Image 2" descr="Smart India Hackathon 2026 official log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9069" y="155448"/>
            <a:ext cx="504235" cy="566928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384048" y="932688"/>
            <a:ext cx="1691640" cy="237744"/>
          </a:xfrm>
          <a:prstGeom prst="roundRect">
            <a:avLst>
              <a:gd name="adj" fmla="val 15385"/>
            </a:avLst>
          </a:prstGeom>
          <a:solidFill>
            <a:srgbClr val="138808"/>
          </a:solidFill>
          <a:ln/>
        </p:spPr>
      </p:sp>
      <p:sp>
        <p:nvSpPr>
          <p:cNvPr id="10" name="Text 5"/>
          <p:cNvSpPr/>
          <p:nvPr/>
        </p:nvSpPr>
        <p:spPr>
          <a:xfrm>
            <a:off x="384048" y="932688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6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PROPOSED SOLUTION</a:t>
            </a:r>
            <a:endParaRPr lang="en-US" sz="750" dirty="0"/>
          </a:p>
        </p:txBody>
      </p:sp>
      <p:sp>
        <p:nvSpPr>
          <p:cNvPr id="11" name="Text 6"/>
          <p:cNvSpPr/>
          <p:nvPr/>
        </p:nvSpPr>
        <p:spPr>
          <a:xfrm>
            <a:off x="384048" y="1261872"/>
            <a:ext cx="440740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Avsar is one portal where an Ayush student finds the exact skills they lack for the role they want, closes each gap with free material and a proof-linked project, and applies to Ayush-sector roles through one tracked pipeline.</a:t>
            </a:r>
            <a:endParaRPr lang="en-US" sz="1000" dirty="0"/>
          </a:p>
        </p:txBody>
      </p:sp>
      <p:sp>
        <p:nvSpPr>
          <p:cNvPr id="12" name="Text 7"/>
          <p:cNvSpPr/>
          <p:nvPr/>
        </p:nvSpPr>
        <p:spPr>
          <a:xfrm>
            <a:off x="384048" y="2212848"/>
            <a:ext cx="4407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13880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IT ADDRESSES THE PROBLEM</a:t>
            </a:r>
            <a:endParaRPr lang="en-US" sz="800" dirty="0"/>
          </a:p>
        </p:txBody>
      </p:sp>
      <p:sp>
        <p:nvSpPr>
          <p:cNvPr id="13" name="Text 8"/>
          <p:cNvSpPr/>
          <p:nvPr/>
        </p:nvSpPr>
        <p:spPr>
          <a:xfrm>
            <a:off x="384048" y="2414016"/>
            <a:ext cx="440740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sz="82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 assessment.</a:t>
            </a:r>
            <a:pPr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82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 resume scan plus a 10-question role questionnaire produce a readiness score across five weighted dimensions, each showing the points earned and why.</a:t>
            </a:r>
            <a:endParaRPr lang="en-US" sz="82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sz="82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 profile and gaps.</a:t>
            </a:r>
            <a:pPr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82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Found versus missing skills for a target role, with the gap list ordered by how often that skill appears in live postings.</a:t>
            </a:r>
            <a:endParaRPr lang="en-US" sz="82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sz="82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Explainable skill mapping.</a:t>
            </a:r>
            <a:pPr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82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Roles are matched on a published formula, not a black box. The weights are shown at the foot of this slide.</a:t>
            </a:r>
            <a:endParaRPr lang="en-US" sz="82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sz="82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Internships, jobs and learning programs.</a:t>
            </a:r>
            <a:pPr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82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Industry posts against a minimum readiness bar and lands in the same feed students browse. Every gap ships a free course plus a proof-linked mini-project.</a:t>
            </a:r>
            <a:endParaRPr lang="en-US" sz="82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sz="82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portals, one engine.</a:t>
            </a:r>
            <a:pPr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82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Student, academician, industry and institution each get their own surface: FDPs, faculty internships, consultancy and research for academicians; cohort bands and demand-versus-supply analytics for institutions.</a:t>
            </a:r>
            <a:endParaRPr lang="en-US" sz="820" dirty="0"/>
          </a:p>
        </p:txBody>
      </p:sp>
      <p:sp>
        <p:nvSpPr>
          <p:cNvPr id="14" name="Text 9"/>
          <p:cNvSpPr/>
          <p:nvPr/>
        </p:nvSpPr>
        <p:spPr>
          <a:xfrm>
            <a:off x="384048" y="4517136"/>
            <a:ext cx="4407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13880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INNOVATION AND UNIQUENESS</a:t>
            </a:r>
            <a:endParaRPr lang="en-US" sz="800" dirty="0"/>
          </a:p>
        </p:txBody>
      </p:sp>
      <p:sp>
        <p:nvSpPr>
          <p:cNvPr id="15" name="Text 10"/>
          <p:cNvSpPr/>
          <p:nvPr/>
        </p:nvSpPr>
        <p:spPr>
          <a:xfrm>
            <a:off x="384048" y="4718304"/>
            <a:ext cx="440740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sz="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Explainable by construction.</a:t>
            </a:r>
            <a:pPr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8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Every recommendation publishes its weights and its reasons. No unexplained ranking.</a:t>
            </a:r>
            <a:endParaRPr lang="en-US" sz="8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sz="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Verified is not claimed.</a:t>
            </a:r>
            <a:pPr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8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 self-typed tick counts for nothing. Only a course, a project and an evidence link lift the score, and revocation stays visible.</a:t>
            </a:r>
            <a:endParaRPr lang="en-US" sz="8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sz="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Offline-first.</a:t>
            </a:r>
            <a:pPr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8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device is the source of truth. Cut the network and every screen still renders, so a demo can never blank out.</a:t>
            </a:r>
            <a:endParaRPr lang="en-US" sz="800" dirty="0"/>
          </a:p>
        </p:txBody>
      </p:sp>
      <p:sp>
        <p:nvSpPr>
          <p:cNvPr id="16" name="Text 11"/>
          <p:cNvSpPr/>
          <p:nvPr/>
        </p:nvSpPr>
        <p:spPr>
          <a:xfrm>
            <a:off x="5010912" y="932688"/>
            <a:ext cx="67967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13880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ARCHITECTURE</a:t>
            </a:r>
            <a:endParaRPr lang="en-US" sz="800" dirty="0"/>
          </a:p>
        </p:txBody>
      </p:sp>
      <p:sp>
        <p:nvSpPr>
          <p:cNvPr id="17" name="Shape 12"/>
          <p:cNvSpPr/>
          <p:nvPr/>
        </p:nvSpPr>
        <p:spPr>
          <a:xfrm>
            <a:off x="5010912" y="1188720"/>
            <a:ext cx="6796735" cy="530352"/>
          </a:xfrm>
          <a:prstGeom prst="roundRect">
            <a:avLst>
              <a:gd name="adj" fmla="val 10345"/>
            </a:avLst>
          </a:prstGeom>
          <a:solidFill>
            <a:srgbClr val="F7F8FA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029200" y="1243584"/>
            <a:ext cx="45720" cy="420624"/>
          </a:xfrm>
          <a:prstGeom prst="rect">
            <a:avLst/>
          </a:prstGeom>
          <a:solidFill>
            <a:srgbClr val="138808"/>
          </a:solidFill>
          <a:ln/>
        </p:spPr>
      </p:sp>
      <p:sp>
        <p:nvSpPr>
          <p:cNvPr id="19" name="Text 14"/>
          <p:cNvSpPr/>
          <p:nvPr/>
        </p:nvSpPr>
        <p:spPr>
          <a:xfrm>
            <a:off x="5157216" y="1188720"/>
            <a:ext cx="10607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50" kern="0" dirty="0">
                <a:solidFill>
                  <a:srgbClr val="13880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USERS</a:t>
            </a:r>
            <a:endParaRPr lang="en-US" sz="750" dirty="0"/>
          </a:p>
        </p:txBody>
      </p:sp>
      <p:sp>
        <p:nvSpPr>
          <p:cNvPr id="20" name="Shape 15"/>
          <p:cNvSpPr/>
          <p:nvPr/>
        </p:nvSpPr>
        <p:spPr>
          <a:xfrm>
            <a:off x="6309360" y="1271016"/>
            <a:ext cx="1264844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6382512" y="1292962"/>
            <a:ext cx="11185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</a:t>
            </a:r>
            <a:endParaRPr lang="en-US" sz="850" dirty="0"/>
          </a:p>
        </p:txBody>
      </p:sp>
      <p:sp>
        <p:nvSpPr>
          <p:cNvPr id="22" name="Text 17"/>
          <p:cNvSpPr/>
          <p:nvPr/>
        </p:nvSpPr>
        <p:spPr>
          <a:xfrm>
            <a:off x="6373368" y="1453896"/>
            <a:ext cx="1136828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Ayush / BAMS</a:t>
            </a:r>
            <a:endParaRPr lang="en-US" sz="680" dirty="0"/>
          </a:p>
        </p:txBody>
      </p:sp>
      <p:sp>
        <p:nvSpPr>
          <p:cNvPr id="23" name="Shape 18"/>
          <p:cNvSpPr/>
          <p:nvPr/>
        </p:nvSpPr>
        <p:spPr>
          <a:xfrm>
            <a:off x="7665644" y="1271016"/>
            <a:ext cx="1264844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7738796" y="1292962"/>
            <a:ext cx="11185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Industry</a:t>
            </a:r>
            <a:endParaRPr lang="en-US" sz="850" dirty="0"/>
          </a:p>
        </p:txBody>
      </p:sp>
      <p:sp>
        <p:nvSpPr>
          <p:cNvPr id="25" name="Text 20"/>
          <p:cNvSpPr/>
          <p:nvPr/>
        </p:nvSpPr>
        <p:spPr>
          <a:xfrm>
            <a:off x="7729652" y="1453896"/>
            <a:ext cx="1136828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hospitals, pharma</a:t>
            </a:r>
            <a:endParaRPr lang="en-US" sz="680" dirty="0"/>
          </a:p>
        </p:txBody>
      </p:sp>
      <p:sp>
        <p:nvSpPr>
          <p:cNvPr id="26" name="Shape 21"/>
          <p:cNvSpPr/>
          <p:nvPr/>
        </p:nvSpPr>
        <p:spPr>
          <a:xfrm>
            <a:off x="9021928" y="1271016"/>
            <a:ext cx="1264844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9095080" y="1292962"/>
            <a:ext cx="11185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Academician</a:t>
            </a:r>
            <a:endParaRPr lang="en-US" sz="850" dirty="0"/>
          </a:p>
        </p:txBody>
      </p:sp>
      <p:sp>
        <p:nvSpPr>
          <p:cNvPr id="28" name="Text 23"/>
          <p:cNvSpPr/>
          <p:nvPr/>
        </p:nvSpPr>
        <p:spPr>
          <a:xfrm>
            <a:off x="9085936" y="1453896"/>
            <a:ext cx="1136828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faculty</a:t>
            </a:r>
            <a:endParaRPr lang="en-US" sz="680" dirty="0"/>
          </a:p>
        </p:txBody>
      </p:sp>
      <p:sp>
        <p:nvSpPr>
          <p:cNvPr id="29" name="Shape 24"/>
          <p:cNvSpPr/>
          <p:nvPr/>
        </p:nvSpPr>
        <p:spPr>
          <a:xfrm>
            <a:off x="10378211" y="1271016"/>
            <a:ext cx="1264844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10451363" y="1292962"/>
            <a:ext cx="11185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Institution</a:t>
            </a:r>
            <a:endParaRPr lang="en-US" sz="850" dirty="0"/>
          </a:p>
        </p:txBody>
      </p:sp>
      <p:sp>
        <p:nvSpPr>
          <p:cNvPr id="31" name="Text 26"/>
          <p:cNvSpPr/>
          <p:nvPr/>
        </p:nvSpPr>
        <p:spPr>
          <a:xfrm>
            <a:off x="10442219" y="1453896"/>
            <a:ext cx="1136828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placement cell</a:t>
            </a:r>
            <a:endParaRPr lang="en-US" sz="680" dirty="0"/>
          </a:p>
        </p:txBody>
      </p:sp>
      <p:sp>
        <p:nvSpPr>
          <p:cNvPr id="32" name="Shape 27"/>
          <p:cNvSpPr/>
          <p:nvPr/>
        </p:nvSpPr>
        <p:spPr>
          <a:xfrm>
            <a:off x="8409280" y="1728216"/>
            <a:ext cx="0" cy="100584"/>
          </a:xfrm>
          <a:prstGeom prst="line">
            <a:avLst/>
          </a:prstGeom>
          <a:noFill/>
          <a:ln w="15875">
            <a:solidFill>
              <a:srgbClr val="138808"/>
            </a:solidFill>
            <a:prstDash val="solid"/>
            <a:tailEnd type="triangle"/>
          </a:ln>
        </p:spPr>
      </p:sp>
      <p:sp>
        <p:nvSpPr>
          <p:cNvPr id="33" name="Shape 28"/>
          <p:cNvSpPr/>
          <p:nvPr/>
        </p:nvSpPr>
        <p:spPr>
          <a:xfrm>
            <a:off x="5010912" y="1847088"/>
            <a:ext cx="6796735" cy="438912"/>
          </a:xfrm>
          <a:prstGeom prst="roundRect">
            <a:avLst>
              <a:gd name="adj" fmla="val 12500"/>
            </a:avLst>
          </a:prstGeom>
          <a:solidFill>
            <a:srgbClr val="F7F8FA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5029200" y="1901952"/>
            <a:ext cx="45720" cy="329184"/>
          </a:xfrm>
          <a:prstGeom prst="rect">
            <a:avLst/>
          </a:prstGeom>
          <a:solidFill>
            <a:srgbClr val="138808"/>
          </a:solidFill>
          <a:ln/>
        </p:spPr>
      </p:sp>
      <p:sp>
        <p:nvSpPr>
          <p:cNvPr id="35" name="Text 30"/>
          <p:cNvSpPr/>
          <p:nvPr/>
        </p:nvSpPr>
        <p:spPr>
          <a:xfrm>
            <a:off x="5157216" y="1847088"/>
            <a:ext cx="10607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50" kern="0" dirty="0">
                <a:solidFill>
                  <a:srgbClr val="13880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</a:t>
            </a:r>
            <a:endParaRPr lang="en-US" sz="750" dirty="0"/>
          </a:p>
        </p:txBody>
      </p:sp>
      <p:sp>
        <p:nvSpPr>
          <p:cNvPr id="36" name="Shape 31"/>
          <p:cNvSpPr/>
          <p:nvPr/>
        </p:nvSpPr>
        <p:spPr>
          <a:xfrm>
            <a:off x="6309360" y="1911096"/>
            <a:ext cx="2621128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6382512" y="1929750"/>
            <a:ext cx="2474824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 PWA</a:t>
            </a:r>
            <a:endParaRPr lang="en-US" sz="850" dirty="0"/>
          </a:p>
        </p:txBody>
      </p:sp>
      <p:sp>
        <p:nvSpPr>
          <p:cNvPr id="38" name="Text 33"/>
          <p:cNvSpPr/>
          <p:nvPr/>
        </p:nvSpPr>
        <p:spPr>
          <a:xfrm>
            <a:off x="6373368" y="2066544"/>
            <a:ext cx="2493112" cy="1430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installable, mobile + desktop</a:t>
            </a:r>
            <a:endParaRPr lang="en-US" sz="680" dirty="0"/>
          </a:p>
        </p:txBody>
      </p:sp>
      <p:sp>
        <p:nvSpPr>
          <p:cNvPr id="39" name="Shape 34"/>
          <p:cNvSpPr/>
          <p:nvPr/>
        </p:nvSpPr>
        <p:spPr>
          <a:xfrm>
            <a:off x="9021928" y="1911096"/>
            <a:ext cx="2621128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9095080" y="1929750"/>
            <a:ext cx="2474824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Offline service worker</a:t>
            </a:r>
            <a:endParaRPr lang="en-US" sz="850" dirty="0"/>
          </a:p>
        </p:txBody>
      </p:sp>
      <p:sp>
        <p:nvSpPr>
          <p:cNvPr id="41" name="Text 36"/>
          <p:cNvSpPr/>
          <p:nvPr/>
        </p:nvSpPr>
        <p:spPr>
          <a:xfrm>
            <a:off x="9085936" y="2066544"/>
            <a:ext cx="2493112" cy="1430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cached, works with no network</a:t>
            </a:r>
            <a:endParaRPr lang="en-US" sz="680" dirty="0"/>
          </a:p>
        </p:txBody>
      </p:sp>
      <p:sp>
        <p:nvSpPr>
          <p:cNvPr id="42" name="Shape 37"/>
          <p:cNvSpPr/>
          <p:nvPr/>
        </p:nvSpPr>
        <p:spPr>
          <a:xfrm>
            <a:off x="8409280" y="2295144"/>
            <a:ext cx="0" cy="100584"/>
          </a:xfrm>
          <a:prstGeom prst="line">
            <a:avLst/>
          </a:prstGeom>
          <a:noFill/>
          <a:ln w="15875">
            <a:solidFill>
              <a:srgbClr val="138808"/>
            </a:solidFill>
            <a:prstDash val="solid"/>
            <a:tailEnd type="triangle"/>
          </a:ln>
        </p:spPr>
      </p:sp>
      <p:sp>
        <p:nvSpPr>
          <p:cNvPr id="43" name="Shape 38"/>
          <p:cNvSpPr/>
          <p:nvPr/>
        </p:nvSpPr>
        <p:spPr>
          <a:xfrm>
            <a:off x="5010912" y="2414016"/>
            <a:ext cx="6796735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5029200" y="2468880"/>
            <a:ext cx="45720" cy="731520"/>
          </a:xfrm>
          <a:prstGeom prst="rect">
            <a:avLst/>
          </a:prstGeom>
          <a:solidFill>
            <a:srgbClr val="138808"/>
          </a:solidFill>
          <a:ln/>
        </p:spPr>
      </p:sp>
      <p:sp>
        <p:nvSpPr>
          <p:cNvPr id="45" name="Text 40"/>
          <p:cNvSpPr/>
          <p:nvPr/>
        </p:nvSpPr>
        <p:spPr>
          <a:xfrm>
            <a:off x="5157216" y="2414016"/>
            <a:ext cx="106070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50" kern="0" dirty="0">
                <a:solidFill>
                  <a:srgbClr val="13880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 ENGINE</a:t>
            </a:r>
            <a:endParaRPr lang="en-US" sz="750" dirty="0"/>
          </a:p>
        </p:txBody>
      </p:sp>
      <p:sp>
        <p:nvSpPr>
          <p:cNvPr id="46" name="Shape 41"/>
          <p:cNvSpPr/>
          <p:nvPr/>
        </p:nvSpPr>
        <p:spPr>
          <a:xfrm>
            <a:off x="6309360" y="2487168"/>
            <a:ext cx="1716938" cy="301752"/>
          </a:xfrm>
          <a:prstGeom prst="roundRect">
            <a:avLst>
              <a:gd name="adj" fmla="val 15152"/>
            </a:avLst>
          </a:prstGeom>
          <a:solidFill>
            <a:srgbClr val="138808"/>
          </a:solidFill>
          <a:ln/>
        </p:spPr>
      </p:sp>
      <p:sp>
        <p:nvSpPr>
          <p:cNvPr id="47" name="Text 42"/>
          <p:cNvSpPr/>
          <p:nvPr/>
        </p:nvSpPr>
        <p:spPr>
          <a:xfrm>
            <a:off x="6309360" y="2487168"/>
            <a:ext cx="171693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 taxonomy</a:t>
            </a:r>
            <a:endParaRPr lang="en-US" sz="760" dirty="0"/>
          </a:p>
        </p:txBody>
      </p:sp>
      <p:sp>
        <p:nvSpPr>
          <p:cNvPr id="48" name="Shape 43"/>
          <p:cNvSpPr/>
          <p:nvPr/>
        </p:nvSpPr>
        <p:spPr>
          <a:xfrm>
            <a:off x="8117738" y="2487168"/>
            <a:ext cx="1716938" cy="301752"/>
          </a:xfrm>
          <a:prstGeom prst="roundRect">
            <a:avLst>
              <a:gd name="adj" fmla="val 15152"/>
            </a:avLst>
          </a:prstGeom>
          <a:solidFill>
            <a:srgbClr val="138808"/>
          </a:solidFill>
          <a:ln/>
        </p:spPr>
      </p:sp>
      <p:sp>
        <p:nvSpPr>
          <p:cNvPr id="49" name="Text 44"/>
          <p:cNvSpPr/>
          <p:nvPr/>
        </p:nvSpPr>
        <p:spPr>
          <a:xfrm>
            <a:off x="8117738" y="2487168"/>
            <a:ext cx="171693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Assessment</a:t>
            </a:r>
            <a:endParaRPr lang="en-US" sz="760" dirty="0"/>
          </a:p>
        </p:txBody>
      </p:sp>
      <p:sp>
        <p:nvSpPr>
          <p:cNvPr id="50" name="Shape 45"/>
          <p:cNvSpPr/>
          <p:nvPr/>
        </p:nvSpPr>
        <p:spPr>
          <a:xfrm>
            <a:off x="9926117" y="2487168"/>
            <a:ext cx="1716938" cy="301752"/>
          </a:xfrm>
          <a:prstGeom prst="roundRect">
            <a:avLst>
              <a:gd name="adj" fmla="val 15152"/>
            </a:avLst>
          </a:prstGeom>
          <a:solidFill>
            <a:srgbClr val="138808"/>
          </a:solidFill>
          <a:ln/>
        </p:spPr>
      </p:sp>
      <p:sp>
        <p:nvSpPr>
          <p:cNvPr id="51" name="Text 46"/>
          <p:cNvSpPr/>
          <p:nvPr/>
        </p:nvSpPr>
        <p:spPr>
          <a:xfrm>
            <a:off x="9926117" y="2487168"/>
            <a:ext cx="171693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Gap analysis</a:t>
            </a:r>
            <a:endParaRPr lang="en-US" sz="760" dirty="0"/>
          </a:p>
        </p:txBody>
      </p:sp>
      <p:sp>
        <p:nvSpPr>
          <p:cNvPr id="52" name="Shape 47"/>
          <p:cNvSpPr/>
          <p:nvPr/>
        </p:nvSpPr>
        <p:spPr>
          <a:xfrm>
            <a:off x="6309360" y="2852928"/>
            <a:ext cx="1716938" cy="301752"/>
          </a:xfrm>
          <a:prstGeom prst="roundRect">
            <a:avLst>
              <a:gd name="adj" fmla="val 15152"/>
            </a:avLst>
          </a:prstGeom>
          <a:solidFill>
            <a:srgbClr val="138808"/>
          </a:solidFill>
          <a:ln/>
        </p:spPr>
      </p:sp>
      <p:sp>
        <p:nvSpPr>
          <p:cNvPr id="53" name="Text 48"/>
          <p:cNvSpPr/>
          <p:nvPr/>
        </p:nvSpPr>
        <p:spPr>
          <a:xfrm>
            <a:off x="6309360" y="2852928"/>
            <a:ext cx="171693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Explainable matching</a:t>
            </a:r>
            <a:endParaRPr lang="en-US" sz="760" dirty="0"/>
          </a:p>
        </p:txBody>
      </p:sp>
      <p:sp>
        <p:nvSpPr>
          <p:cNvPr id="54" name="Shape 49"/>
          <p:cNvSpPr/>
          <p:nvPr/>
        </p:nvSpPr>
        <p:spPr>
          <a:xfrm>
            <a:off x="8117738" y="2852928"/>
            <a:ext cx="1716938" cy="301752"/>
          </a:xfrm>
          <a:prstGeom prst="roundRect">
            <a:avLst>
              <a:gd name="adj" fmla="val 15152"/>
            </a:avLst>
          </a:prstGeom>
          <a:solidFill>
            <a:srgbClr val="138808"/>
          </a:solidFill>
          <a:ln/>
        </p:spPr>
      </p:sp>
      <p:sp>
        <p:nvSpPr>
          <p:cNvPr id="55" name="Text 50"/>
          <p:cNvSpPr/>
          <p:nvPr/>
        </p:nvSpPr>
        <p:spPr>
          <a:xfrm>
            <a:off x="8117738" y="2852928"/>
            <a:ext cx="171693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 verification</a:t>
            </a:r>
            <a:endParaRPr lang="en-US" sz="760" dirty="0"/>
          </a:p>
        </p:txBody>
      </p:sp>
      <p:sp>
        <p:nvSpPr>
          <p:cNvPr id="56" name="Shape 51"/>
          <p:cNvSpPr/>
          <p:nvPr/>
        </p:nvSpPr>
        <p:spPr>
          <a:xfrm>
            <a:off x="9926117" y="2852928"/>
            <a:ext cx="1716938" cy="301752"/>
          </a:xfrm>
          <a:prstGeom prst="roundRect">
            <a:avLst>
              <a:gd name="adj" fmla="val 15152"/>
            </a:avLst>
          </a:prstGeom>
          <a:solidFill>
            <a:srgbClr val="138808"/>
          </a:solidFill>
          <a:ln/>
        </p:spPr>
      </p:sp>
      <p:sp>
        <p:nvSpPr>
          <p:cNvPr id="57" name="Text 52"/>
          <p:cNvSpPr/>
          <p:nvPr/>
        </p:nvSpPr>
        <p:spPr>
          <a:xfrm>
            <a:off x="9926117" y="2852928"/>
            <a:ext cx="171693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Cohort analytics</a:t>
            </a:r>
            <a:endParaRPr lang="en-US" sz="760" dirty="0"/>
          </a:p>
        </p:txBody>
      </p:sp>
      <p:sp>
        <p:nvSpPr>
          <p:cNvPr id="58" name="Shape 53"/>
          <p:cNvSpPr/>
          <p:nvPr/>
        </p:nvSpPr>
        <p:spPr>
          <a:xfrm>
            <a:off x="8409280" y="3264408"/>
            <a:ext cx="0" cy="100584"/>
          </a:xfrm>
          <a:prstGeom prst="line">
            <a:avLst/>
          </a:prstGeom>
          <a:noFill/>
          <a:ln w="15875">
            <a:solidFill>
              <a:srgbClr val="138808"/>
            </a:solidFill>
            <a:prstDash val="solid"/>
            <a:tailEnd type="triangle"/>
          </a:ln>
        </p:spPr>
      </p:sp>
      <p:sp>
        <p:nvSpPr>
          <p:cNvPr id="59" name="Shape 54"/>
          <p:cNvSpPr/>
          <p:nvPr/>
        </p:nvSpPr>
        <p:spPr>
          <a:xfrm>
            <a:off x="5010912" y="3383280"/>
            <a:ext cx="6796735" cy="475488"/>
          </a:xfrm>
          <a:prstGeom prst="roundRect">
            <a:avLst>
              <a:gd name="adj" fmla="val 11538"/>
            </a:avLst>
          </a:prstGeom>
          <a:solidFill>
            <a:srgbClr val="F7F8FA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60" name="Shape 55"/>
          <p:cNvSpPr/>
          <p:nvPr/>
        </p:nvSpPr>
        <p:spPr>
          <a:xfrm>
            <a:off x="5029200" y="3438144"/>
            <a:ext cx="45720" cy="365760"/>
          </a:xfrm>
          <a:prstGeom prst="rect">
            <a:avLst/>
          </a:prstGeom>
          <a:solidFill>
            <a:srgbClr val="138808"/>
          </a:solidFill>
          <a:ln/>
        </p:spPr>
      </p:sp>
      <p:sp>
        <p:nvSpPr>
          <p:cNvPr id="61" name="Text 56"/>
          <p:cNvSpPr/>
          <p:nvPr/>
        </p:nvSpPr>
        <p:spPr>
          <a:xfrm>
            <a:off x="5157216" y="3383280"/>
            <a:ext cx="10607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50" kern="0" dirty="0">
                <a:solidFill>
                  <a:srgbClr val="13880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</a:t>
            </a:r>
            <a:endParaRPr lang="en-US" sz="750" dirty="0"/>
          </a:p>
        </p:txBody>
      </p:sp>
      <p:sp>
        <p:nvSpPr>
          <p:cNvPr id="62" name="Shape 57"/>
          <p:cNvSpPr/>
          <p:nvPr/>
        </p:nvSpPr>
        <p:spPr>
          <a:xfrm>
            <a:off x="6309360" y="3447288"/>
            <a:ext cx="2621128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6382512" y="3468136"/>
            <a:ext cx="2474824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LocalStorage — source of truth</a:t>
            </a:r>
            <a:endParaRPr lang="en-US" sz="850" dirty="0"/>
          </a:p>
        </p:txBody>
      </p:sp>
      <p:sp>
        <p:nvSpPr>
          <p:cNvPr id="64" name="Text 59"/>
          <p:cNvSpPr/>
          <p:nvPr/>
        </p:nvSpPr>
        <p:spPr>
          <a:xfrm>
            <a:off x="6373368" y="3621024"/>
            <a:ext cx="2493112" cy="15983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screen renders from here</a:t>
            </a:r>
            <a:endParaRPr lang="en-US" sz="680" dirty="0"/>
          </a:p>
        </p:txBody>
      </p:sp>
      <p:sp>
        <p:nvSpPr>
          <p:cNvPr id="65" name="Shape 60"/>
          <p:cNvSpPr/>
          <p:nvPr/>
        </p:nvSpPr>
        <p:spPr>
          <a:xfrm>
            <a:off x="9021928" y="3447288"/>
            <a:ext cx="2621128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66" name="Text 61"/>
          <p:cNvSpPr/>
          <p:nvPr/>
        </p:nvSpPr>
        <p:spPr>
          <a:xfrm>
            <a:off x="9095080" y="3468136"/>
            <a:ext cx="2474824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Supabase Postgres — mirror</a:t>
            </a:r>
            <a:endParaRPr lang="en-US" sz="850" dirty="0"/>
          </a:p>
        </p:txBody>
      </p:sp>
      <p:sp>
        <p:nvSpPr>
          <p:cNvPr id="67" name="Text 62"/>
          <p:cNvSpPr/>
          <p:nvPr/>
        </p:nvSpPr>
        <p:spPr>
          <a:xfrm>
            <a:off x="9085936" y="3621024"/>
            <a:ext cx="2493112" cy="15983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tables, anon REST, best-effort</a:t>
            </a:r>
            <a:endParaRPr lang="en-US" sz="680" dirty="0"/>
          </a:p>
        </p:txBody>
      </p:sp>
      <p:sp>
        <p:nvSpPr>
          <p:cNvPr id="68" name="Shape 63"/>
          <p:cNvSpPr/>
          <p:nvPr/>
        </p:nvSpPr>
        <p:spPr>
          <a:xfrm>
            <a:off x="8409280" y="3867912"/>
            <a:ext cx="0" cy="100584"/>
          </a:xfrm>
          <a:prstGeom prst="line">
            <a:avLst/>
          </a:prstGeom>
          <a:noFill/>
          <a:ln w="15875">
            <a:solidFill>
              <a:srgbClr val="138808"/>
            </a:solidFill>
            <a:prstDash val="solid"/>
            <a:tailEnd type="triangle"/>
          </a:ln>
        </p:spPr>
      </p:sp>
      <p:sp>
        <p:nvSpPr>
          <p:cNvPr id="69" name="Shape 64"/>
          <p:cNvSpPr/>
          <p:nvPr/>
        </p:nvSpPr>
        <p:spPr>
          <a:xfrm>
            <a:off x="5010912" y="3986784"/>
            <a:ext cx="6796735" cy="475488"/>
          </a:xfrm>
          <a:prstGeom prst="roundRect">
            <a:avLst>
              <a:gd name="adj" fmla="val 11538"/>
            </a:avLst>
          </a:prstGeom>
          <a:solidFill>
            <a:srgbClr val="F7F8FA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70" name="Shape 65"/>
          <p:cNvSpPr/>
          <p:nvPr/>
        </p:nvSpPr>
        <p:spPr>
          <a:xfrm>
            <a:off x="5029200" y="4041648"/>
            <a:ext cx="45720" cy="365760"/>
          </a:xfrm>
          <a:prstGeom prst="rect">
            <a:avLst/>
          </a:prstGeom>
          <a:solidFill>
            <a:srgbClr val="138808"/>
          </a:solidFill>
          <a:ln/>
        </p:spPr>
      </p:sp>
      <p:sp>
        <p:nvSpPr>
          <p:cNvPr id="71" name="Text 66"/>
          <p:cNvSpPr/>
          <p:nvPr/>
        </p:nvSpPr>
        <p:spPr>
          <a:xfrm>
            <a:off x="5157216" y="3986784"/>
            <a:ext cx="10607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50" kern="0" dirty="0">
                <a:solidFill>
                  <a:srgbClr val="13880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+ DEPLOY</a:t>
            </a:r>
            <a:endParaRPr lang="en-US" sz="750" dirty="0"/>
          </a:p>
        </p:txBody>
      </p:sp>
      <p:sp>
        <p:nvSpPr>
          <p:cNvPr id="72" name="Shape 67"/>
          <p:cNvSpPr/>
          <p:nvPr/>
        </p:nvSpPr>
        <p:spPr>
          <a:xfrm>
            <a:off x="6309360" y="4050792"/>
            <a:ext cx="2621128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73" name="Text 68"/>
          <p:cNvSpPr/>
          <p:nvPr/>
        </p:nvSpPr>
        <p:spPr>
          <a:xfrm>
            <a:off x="6382512" y="4071640"/>
            <a:ext cx="2474824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Groq / Gemini — optional</a:t>
            </a:r>
            <a:endParaRPr lang="en-US" sz="850" dirty="0"/>
          </a:p>
        </p:txBody>
      </p:sp>
      <p:sp>
        <p:nvSpPr>
          <p:cNvPr id="74" name="Text 69"/>
          <p:cNvSpPr/>
          <p:nvPr/>
        </p:nvSpPr>
        <p:spPr>
          <a:xfrm>
            <a:off x="6373368" y="4224528"/>
            <a:ext cx="2493112" cy="15983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deterministic fallback if no key</a:t>
            </a:r>
            <a:endParaRPr lang="en-US" sz="680" dirty="0"/>
          </a:p>
        </p:txBody>
      </p:sp>
      <p:sp>
        <p:nvSpPr>
          <p:cNvPr id="75" name="Shape 70"/>
          <p:cNvSpPr/>
          <p:nvPr/>
        </p:nvSpPr>
        <p:spPr>
          <a:xfrm>
            <a:off x="9021928" y="4050792"/>
            <a:ext cx="2621128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76" name="Text 71"/>
          <p:cNvSpPr/>
          <p:nvPr/>
        </p:nvSpPr>
        <p:spPr>
          <a:xfrm>
            <a:off x="9095080" y="4071640"/>
            <a:ext cx="2474824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Static deploy, free tier</a:t>
            </a:r>
            <a:endParaRPr lang="en-US" sz="850" dirty="0"/>
          </a:p>
        </p:txBody>
      </p:sp>
      <p:sp>
        <p:nvSpPr>
          <p:cNvPr id="77" name="Text 72"/>
          <p:cNvSpPr/>
          <p:nvPr/>
        </p:nvSpPr>
        <p:spPr>
          <a:xfrm>
            <a:off x="9085936" y="4224528"/>
            <a:ext cx="2493112" cy="15983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server to operate</a:t>
            </a:r>
            <a:endParaRPr lang="en-US" sz="680" dirty="0"/>
          </a:p>
        </p:txBody>
      </p:sp>
      <p:sp>
        <p:nvSpPr>
          <p:cNvPr id="78" name="Shape 73"/>
          <p:cNvSpPr/>
          <p:nvPr/>
        </p:nvSpPr>
        <p:spPr>
          <a:xfrm>
            <a:off x="5010912" y="4590288"/>
            <a:ext cx="6796735" cy="438912"/>
          </a:xfrm>
          <a:prstGeom prst="roundRect">
            <a:avLst>
              <a:gd name="adj" fmla="val 12500"/>
            </a:avLst>
          </a:prstGeom>
          <a:solidFill>
            <a:srgbClr val="E9F5E9"/>
          </a:solidFill>
          <a:ln w="9525">
            <a:solidFill>
              <a:srgbClr val="138808"/>
            </a:solidFill>
            <a:prstDash val="solid"/>
          </a:ln>
        </p:spPr>
      </p:sp>
      <p:sp>
        <p:nvSpPr>
          <p:cNvPr id="79" name="Text 74"/>
          <p:cNvSpPr/>
          <p:nvPr/>
        </p:nvSpPr>
        <p:spPr>
          <a:xfrm>
            <a:off x="5157216" y="4590288"/>
            <a:ext cx="650412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13880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VERIFICATION LOOP   </a:t>
            </a:r>
            <a:pPr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course + project + evidence URL → verified  ·  self-typed tick → claimed  ·  QR passport at /verify/:code</a:t>
            </a:r>
            <a:endParaRPr lang="en-US" sz="750" dirty="0"/>
          </a:p>
        </p:txBody>
      </p:sp>
      <p:sp>
        <p:nvSpPr>
          <p:cNvPr id="80" name="Text 75"/>
          <p:cNvSpPr/>
          <p:nvPr/>
        </p:nvSpPr>
        <p:spPr>
          <a:xfrm>
            <a:off x="5010912" y="5102352"/>
            <a:ext cx="679673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13880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PUBLISHED MATCH WEIGHTS — NO BLACK BOX</a:t>
            </a:r>
            <a:endParaRPr lang="en-US" sz="800" dirty="0"/>
          </a:p>
        </p:txBody>
      </p:sp>
      <p:sp>
        <p:nvSpPr>
          <p:cNvPr id="81" name="Shape 76"/>
          <p:cNvSpPr/>
          <p:nvPr/>
        </p:nvSpPr>
        <p:spPr>
          <a:xfrm>
            <a:off x="5010912" y="5340096"/>
            <a:ext cx="1286195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82" name="Text 77"/>
          <p:cNvSpPr/>
          <p:nvPr/>
        </p:nvSpPr>
        <p:spPr>
          <a:xfrm>
            <a:off x="5010912" y="5349240"/>
            <a:ext cx="12861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880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45%</a:t>
            </a:r>
            <a:endParaRPr lang="en-US" sz="1400" dirty="0"/>
          </a:p>
        </p:txBody>
      </p:sp>
      <p:sp>
        <p:nvSpPr>
          <p:cNvPr id="83" name="Text 78"/>
          <p:cNvSpPr/>
          <p:nvPr/>
        </p:nvSpPr>
        <p:spPr>
          <a:xfrm>
            <a:off x="5047488" y="5614416"/>
            <a:ext cx="121304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 coverage</a:t>
            </a:r>
            <a:endParaRPr lang="en-US" sz="600" dirty="0"/>
          </a:p>
        </p:txBody>
      </p:sp>
      <p:sp>
        <p:nvSpPr>
          <p:cNvPr id="84" name="Shape 79"/>
          <p:cNvSpPr/>
          <p:nvPr/>
        </p:nvSpPr>
        <p:spPr>
          <a:xfrm>
            <a:off x="6388547" y="5340096"/>
            <a:ext cx="1286195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85" name="Text 80"/>
          <p:cNvSpPr/>
          <p:nvPr/>
        </p:nvSpPr>
        <p:spPr>
          <a:xfrm>
            <a:off x="6388547" y="5349240"/>
            <a:ext cx="12861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880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25%</a:t>
            </a:r>
            <a:endParaRPr lang="en-US" sz="1400" dirty="0"/>
          </a:p>
        </p:txBody>
      </p:sp>
      <p:sp>
        <p:nvSpPr>
          <p:cNvPr id="86" name="Text 81"/>
          <p:cNvSpPr/>
          <p:nvPr/>
        </p:nvSpPr>
        <p:spPr>
          <a:xfrm>
            <a:off x="6425123" y="5614416"/>
            <a:ext cx="121304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Proficiency fit</a:t>
            </a:r>
            <a:endParaRPr lang="en-US" sz="600" dirty="0"/>
          </a:p>
        </p:txBody>
      </p:sp>
      <p:sp>
        <p:nvSpPr>
          <p:cNvPr id="87" name="Shape 82"/>
          <p:cNvSpPr/>
          <p:nvPr/>
        </p:nvSpPr>
        <p:spPr>
          <a:xfrm>
            <a:off x="7766182" y="5340096"/>
            <a:ext cx="1286195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88" name="Text 83"/>
          <p:cNvSpPr/>
          <p:nvPr/>
        </p:nvSpPr>
        <p:spPr>
          <a:xfrm>
            <a:off x="7766182" y="5349240"/>
            <a:ext cx="12861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880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</a:t>
            </a:r>
            <a:endParaRPr lang="en-US" sz="1400" dirty="0"/>
          </a:p>
        </p:txBody>
      </p:sp>
      <p:sp>
        <p:nvSpPr>
          <p:cNvPr id="89" name="Text 84"/>
          <p:cNvSpPr/>
          <p:nvPr/>
        </p:nvSpPr>
        <p:spPr>
          <a:xfrm>
            <a:off x="7802758" y="5614416"/>
            <a:ext cx="121304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Verified ratio</a:t>
            </a:r>
            <a:endParaRPr lang="en-US" sz="600" dirty="0"/>
          </a:p>
        </p:txBody>
      </p:sp>
      <p:sp>
        <p:nvSpPr>
          <p:cNvPr id="90" name="Shape 85"/>
          <p:cNvSpPr/>
          <p:nvPr/>
        </p:nvSpPr>
        <p:spPr>
          <a:xfrm>
            <a:off x="9143817" y="5340096"/>
            <a:ext cx="1286195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91" name="Text 86"/>
          <p:cNvSpPr/>
          <p:nvPr/>
        </p:nvSpPr>
        <p:spPr>
          <a:xfrm>
            <a:off x="9143817" y="5349240"/>
            <a:ext cx="12861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880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10%</a:t>
            </a:r>
            <a:endParaRPr lang="en-US" sz="1400" dirty="0"/>
          </a:p>
        </p:txBody>
      </p:sp>
      <p:sp>
        <p:nvSpPr>
          <p:cNvPr id="92" name="Text 87"/>
          <p:cNvSpPr/>
          <p:nvPr/>
        </p:nvSpPr>
        <p:spPr>
          <a:xfrm>
            <a:off x="9180393" y="5614416"/>
            <a:ext cx="121304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Recency of evidence</a:t>
            </a:r>
            <a:endParaRPr lang="en-US" sz="600" dirty="0"/>
          </a:p>
        </p:txBody>
      </p:sp>
      <p:sp>
        <p:nvSpPr>
          <p:cNvPr id="93" name="Shape 88"/>
          <p:cNvSpPr/>
          <p:nvPr/>
        </p:nvSpPr>
        <p:spPr>
          <a:xfrm>
            <a:off x="10521452" y="5340096"/>
            <a:ext cx="1286195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94" name="Text 89"/>
          <p:cNvSpPr/>
          <p:nvPr/>
        </p:nvSpPr>
        <p:spPr>
          <a:xfrm>
            <a:off x="10521452" y="5349240"/>
            <a:ext cx="12861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880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5%</a:t>
            </a:r>
            <a:endParaRPr lang="en-US" sz="1400" dirty="0"/>
          </a:p>
        </p:txBody>
      </p:sp>
      <p:sp>
        <p:nvSpPr>
          <p:cNvPr id="95" name="Text 90"/>
          <p:cNvSpPr/>
          <p:nvPr/>
        </p:nvSpPr>
        <p:spPr>
          <a:xfrm>
            <a:off x="10558028" y="5614416"/>
            <a:ext cx="121304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Interest alignment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ityscape silhouette: students, colleges, hospitals, offices and a growth chart, representing the academia and industry the portal connec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116527"/>
            <a:ext cx="12191695" cy="2576881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693408"/>
            <a:ext cx="12191695" cy="82296"/>
          </a:xfrm>
          <a:prstGeom prst="rect">
            <a:avLst/>
          </a:prstGeom>
          <a:solidFill>
            <a:srgbClr val="0B2A4A"/>
          </a:solidFill>
          <a:ln/>
        </p:spPr>
      </p:sp>
      <p:pic>
        <p:nvPicPr>
          <p:cNvPr id="4" name="Image 1" descr="Team Zencoderss wordmar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73736"/>
            <a:ext cx="1876349" cy="43434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4189324" y="137160"/>
            <a:ext cx="3813048" cy="530352"/>
          </a:xfrm>
          <a:prstGeom prst="roundRect">
            <a:avLst>
              <a:gd name="adj" fmla="val 86207"/>
            </a:avLst>
          </a:prstGeom>
          <a:solidFill>
            <a:srgbClr val="0B2A4A"/>
          </a:solidFill>
          <a:ln/>
        </p:spPr>
      </p:sp>
      <p:sp>
        <p:nvSpPr>
          <p:cNvPr id="6" name="Text 2"/>
          <p:cNvSpPr/>
          <p:nvPr/>
        </p:nvSpPr>
        <p:spPr>
          <a:xfrm>
            <a:off x="4189324" y="137160"/>
            <a:ext cx="3813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spc="1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 APPROACH</a:t>
            </a:r>
            <a:endParaRPr lang="en-US" sz="1700" dirty="0"/>
          </a:p>
        </p:txBody>
      </p:sp>
      <p:sp>
        <p:nvSpPr>
          <p:cNvPr id="7" name="Text 3"/>
          <p:cNvSpPr/>
          <p:nvPr/>
        </p:nvSpPr>
        <p:spPr>
          <a:xfrm>
            <a:off x="10506456" y="192024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0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INDIA HACKATHON</a:t>
            </a:r>
            <a:endParaRPr lang="en-US" sz="900" dirty="0"/>
          </a:p>
          <a:p>
            <a:pPr algn="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0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</a:t>
            </a:r>
            <a:endParaRPr lang="en-US" sz="900" dirty="0"/>
          </a:p>
        </p:txBody>
      </p:sp>
      <p:pic>
        <p:nvPicPr>
          <p:cNvPr id="8" name="Image 2" descr="Smart India Hackathon 2026 official log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9069" y="155448"/>
            <a:ext cx="504235" cy="56692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84048" y="932688"/>
            <a:ext cx="1142359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0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TECHNOLOGIES TO BE USED</a:t>
            </a:r>
            <a:endParaRPr lang="en-US" sz="800" dirty="0"/>
          </a:p>
        </p:txBody>
      </p:sp>
      <p:sp>
        <p:nvSpPr>
          <p:cNvPr id="10" name="Shape 5"/>
          <p:cNvSpPr/>
          <p:nvPr/>
        </p:nvSpPr>
        <p:spPr>
          <a:xfrm>
            <a:off x="384048" y="1133856"/>
            <a:ext cx="1060064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384048" y="1133856"/>
            <a:ext cx="1060064" cy="50292"/>
          </a:xfrm>
          <a:prstGeom prst="rect">
            <a:avLst/>
          </a:prstGeom>
          <a:solidFill>
            <a:srgbClr val="61DAFB"/>
          </a:solidFill>
          <a:ln/>
        </p:spPr>
      </p:sp>
      <p:sp>
        <p:nvSpPr>
          <p:cNvPr id="12" name="Text 7"/>
          <p:cNvSpPr/>
          <p:nvPr/>
        </p:nvSpPr>
        <p:spPr>
          <a:xfrm>
            <a:off x="420624" y="1207008"/>
            <a:ext cx="986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19</a:t>
            </a:r>
            <a:endParaRPr lang="en-US" sz="740" dirty="0"/>
          </a:p>
        </p:txBody>
      </p:sp>
      <p:sp>
        <p:nvSpPr>
          <p:cNvPr id="13" name="Shape 8"/>
          <p:cNvSpPr/>
          <p:nvPr/>
        </p:nvSpPr>
        <p:spPr>
          <a:xfrm>
            <a:off x="1535552" y="1133856"/>
            <a:ext cx="1060064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1535552" y="1133856"/>
            <a:ext cx="1060064" cy="50292"/>
          </a:xfrm>
          <a:prstGeom prst="rect">
            <a:avLst/>
          </a:prstGeom>
          <a:solidFill>
            <a:srgbClr val="646CFF"/>
          </a:solidFill>
          <a:ln/>
        </p:spPr>
      </p:sp>
      <p:sp>
        <p:nvSpPr>
          <p:cNvPr id="15" name="Text 10"/>
          <p:cNvSpPr/>
          <p:nvPr/>
        </p:nvSpPr>
        <p:spPr>
          <a:xfrm>
            <a:off x="1572128" y="1207008"/>
            <a:ext cx="986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Vite 8</a:t>
            </a:r>
            <a:endParaRPr lang="en-US" sz="740" dirty="0"/>
          </a:p>
        </p:txBody>
      </p:sp>
      <p:sp>
        <p:nvSpPr>
          <p:cNvPr id="16" name="Shape 11"/>
          <p:cNvSpPr/>
          <p:nvPr/>
        </p:nvSpPr>
        <p:spPr>
          <a:xfrm>
            <a:off x="2687056" y="1133856"/>
            <a:ext cx="1060064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2687056" y="1133856"/>
            <a:ext cx="1060064" cy="5029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8" name="Text 13"/>
          <p:cNvSpPr/>
          <p:nvPr/>
        </p:nvSpPr>
        <p:spPr>
          <a:xfrm>
            <a:off x="2723632" y="1207008"/>
            <a:ext cx="986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Tailwind 4</a:t>
            </a:r>
            <a:endParaRPr lang="en-US" sz="740" dirty="0"/>
          </a:p>
        </p:txBody>
      </p:sp>
      <p:sp>
        <p:nvSpPr>
          <p:cNvPr id="19" name="Shape 14"/>
          <p:cNvSpPr/>
          <p:nvPr/>
        </p:nvSpPr>
        <p:spPr>
          <a:xfrm>
            <a:off x="3838560" y="1133856"/>
            <a:ext cx="1060064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3838560" y="1133856"/>
            <a:ext cx="1060064" cy="50292"/>
          </a:xfrm>
          <a:prstGeom prst="rect">
            <a:avLst/>
          </a:prstGeom>
          <a:solidFill>
            <a:srgbClr val="CA4245"/>
          </a:solidFill>
          <a:ln/>
        </p:spPr>
      </p:sp>
      <p:sp>
        <p:nvSpPr>
          <p:cNvPr id="21" name="Text 16"/>
          <p:cNvSpPr/>
          <p:nvPr/>
        </p:nvSpPr>
        <p:spPr>
          <a:xfrm>
            <a:off x="3875136" y="1207008"/>
            <a:ext cx="986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Router 8</a:t>
            </a:r>
            <a:endParaRPr lang="en-US" sz="740" dirty="0"/>
          </a:p>
        </p:txBody>
      </p:sp>
      <p:sp>
        <p:nvSpPr>
          <p:cNvPr id="22" name="Shape 17"/>
          <p:cNvSpPr/>
          <p:nvPr/>
        </p:nvSpPr>
        <p:spPr>
          <a:xfrm>
            <a:off x="4990064" y="1133856"/>
            <a:ext cx="1060064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4990064" y="1133856"/>
            <a:ext cx="1060064" cy="50292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24" name="Text 19"/>
          <p:cNvSpPr/>
          <p:nvPr/>
        </p:nvSpPr>
        <p:spPr>
          <a:xfrm>
            <a:off x="5026640" y="1207008"/>
            <a:ext cx="986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Supabase</a:t>
            </a:r>
            <a:endParaRPr lang="en-US" sz="740" dirty="0"/>
          </a:p>
        </p:txBody>
      </p:sp>
      <p:sp>
        <p:nvSpPr>
          <p:cNvPr id="25" name="Shape 20"/>
          <p:cNvSpPr/>
          <p:nvPr/>
        </p:nvSpPr>
        <p:spPr>
          <a:xfrm>
            <a:off x="6141568" y="1133856"/>
            <a:ext cx="1060064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6141568" y="1133856"/>
            <a:ext cx="1060064" cy="50292"/>
          </a:xfrm>
          <a:prstGeom prst="rect">
            <a:avLst/>
          </a:prstGeom>
          <a:solidFill>
            <a:srgbClr val="4169E1"/>
          </a:solidFill>
          <a:ln/>
        </p:spPr>
      </p:sp>
      <p:sp>
        <p:nvSpPr>
          <p:cNvPr id="27" name="Text 22"/>
          <p:cNvSpPr/>
          <p:nvPr/>
        </p:nvSpPr>
        <p:spPr>
          <a:xfrm>
            <a:off x="6178144" y="1207008"/>
            <a:ext cx="986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Postgres</a:t>
            </a:r>
            <a:endParaRPr lang="en-US" sz="740" dirty="0"/>
          </a:p>
        </p:txBody>
      </p:sp>
      <p:sp>
        <p:nvSpPr>
          <p:cNvPr id="28" name="Shape 23"/>
          <p:cNvSpPr/>
          <p:nvPr/>
        </p:nvSpPr>
        <p:spPr>
          <a:xfrm>
            <a:off x="7293072" y="1133856"/>
            <a:ext cx="1060064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7293072" y="1133856"/>
            <a:ext cx="1060064" cy="50292"/>
          </a:xfrm>
          <a:prstGeom prst="rect">
            <a:avLst/>
          </a:prstGeom>
          <a:solidFill>
            <a:srgbClr val="F55036"/>
          </a:solidFill>
          <a:ln/>
        </p:spPr>
      </p:sp>
      <p:sp>
        <p:nvSpPr>
          <p:cNvPr id="30" name="Text 25"/>
          <p:cNvSpPr/>
          <p:nvPr/>
        </p:nvSpPr>
        <p:spPr>
          <a:xfrm>
            <a:off x="7329648" y="1207008"/>
            <a:ext cx="986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Groq</a:t>
            </a:r>
            <a:endParaRPr lang="en-US" sz="740" dirty="0"/>
          </a:p>
        </p:txBody>
      </p:sp>
      <p:sp>
        <p:nvSpPr>
          <p:cNvPr id="31" name="Shape 26"/>
          <p:cNvSpPr/>
          <p:nvPr/>
        </p:nvSpPr>
        <p:spPr>
          <a:xfrm>
            <a:off x="8444575" y="1133856"/>
            <a:ext cx="1060064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8444575" y="1133856"/>
            <a:ext cx="1060064" cy="5029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3" name="Text 28"/>
          <p:cNvSpPr/>
          <p:nvPr/>
        </p:nvSpPr>
        <p:spPr>
          <a:xfrm>
            <a:off x="8481151" y="1207008"/>
            <a:ext cx="986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Gemini</a:t>
            </a:r>
            <a:endParaRPr lang="en-US" sz="740" dirty="0"/>
          </a:p>
        </p:txBody>
      </p:sp>
      <p:sp>
        <p:nvSpPr>
          <p:cNvPr id="34" name="Shape 29"/>
          <p:cNvSpPr/>
          <p:nvPr/>
        </p:nvSpPr>
        <p:spPr>
          <a:xfrm>
            <a:off x="9596079" y="1133856"/>
            <a:ext cx="1060064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9596079" y="1133856"/>
            <a:ext cx="1060064" cy="50292"/>
          </a:xfrm>
          <a:prstGeom prst="rect">
            <a:avLst/>
          </a:prstGeom>
          <a:solidFill>
            <a:srgbClr val="5A0FC8"/>
          </a:solidFill>
          <a:ln/>
        </p:spPr>
      </p:sp>
      <p:sp>
        <p:nvSpPr>
          <p:cNvPr id="36" name="Text 31"/>
          <p:cNvSpPr/>
          <p:nvPr/>
        </p:nvSpPr>
        <p:spPr>
          <a:xfrm>
            <a:off x="9632655" y="1207008"/>
            <a:ext cx="986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PWA / SW</a:t>
            </a:r>
            <a:endParaRPr lang="en-US" sz="740" dirty="0"/>
          </a:p>
        </p:txBody>
      </p:sp>
      <p:sp>
        <p:nvSpPr>
          <p:cNvPr id="37" name="Shape 32"/>
          <p:cNvSpPr/>
          <p:nvPr/>
        </p:nvSpPr>
        <p:spPr>
          <a:xfrm>
            <a:off x="10747583" y="1133856"/>
            <a:ext cx="1060064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10747583" y="1133856"/>
            <a:ext cx="1060064" cy="50292"/>
          </a:xfrm>
          <a:prstGeom prst="rect">
            <a:avLst/>
          </a:prstGeom>
          <a:solidFill>
            <a:srgbClr val="0B2A4A"/>
          </a:solidFill>
          <a:ln/>
        </p:spPr>
      </p:sp>
      <p:sp>
        <p:nvSpPr>
          <p:cNvPr id="39" name="Text 34"/>
          <p:cNvSpPr/>
          <p:nvPr/>
        </p:nvSpPr>
        <p:spPr>
          <a:xfrm>
            <a:off x="10784159" y="1207008"/>
            <a:ext cx="986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QR + PDF</a:t>
            </a:r>
            <a:endParaRPr lang="en-US" sz="740" dirty="0"/>
          </a:p>
        </p:txBody>
      </p:sp>
      <p:sp>
        <p:nvSpPr>
          <p:cNvPr id="40" name="Text 35"/>
          <p:cNvSpPr/>
          <p:nvPr/>
        </p:nvSpPr>
        <p:spPr>
          <a:xfrm>
            <a:off x="384048" y="1737360"/>
            <a:ext cx="114235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dependency is free-tier. The LLM is an upgrade, never a gate: with no key the deterministic path produces the same output.</a:t>
            </a:r>
            <a:endParaRPr lang="en-US" sz="740" dirty="0"/>
          </a:p>
        </p:txBody>
      </p:sp>
      <p:sp>
        <p:nvSpPr>
          <p:cNvPr id="41" name="Text 36"/>
          <p:cNvSpPr/>
          <p:nvPr/>
        </p:nvSpPr>
        <p:spPr>
          <a:xfrm>
            <a:off x="384048" y="2011680"/>
            <a:ext cx="1142359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0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METHODOLOGY AND PROCESS</a:t>
            </a:r>
            <a:endParaRPr lang="en-US" sz="800" dirty="0"/>
          </a:p>
        </p:txBody>
      </p:sp>
      <p:sp>
        <p:nvSpPr>
          <p:cNvPr id="42" name="Shape 37"/>
          <p:cNvSpPr/>
          <p:nvPr/>
        </p:nvSpPr>
        <p:spPr>
          <a:xfrm>
            <a:off x="384048" y="2231136"/>
            <a:ext cx="1379944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384048" y="2231136"/>
            <a:ext cx="1379944" cy="182880"/>
          </a:xfrm>
          <a:prstGeom prst="roundRect">
            <a:avLst>
              <a:gd name="adj" fmla="val 20000"/>
            </a:avLst>
          </a:prstGeom>
          <a:solidFill>
            <a:srgbClr val="0B2A4A"/>
          </a:solidFill>
          <a:ln/>
        </p:spPr>
      </p:sp>
      <p:sp>
        <p:nvSpPr>
          <p:cNvPr id="44" name="Text 39"/>
          <p:cNvSpPr/>
          <p:nvPr/>
        </p:nvSpPr>
        <p:spPr>
          <a:xfrm>
            <a:off x="384048" y="2231136"/>
            <a:ext cx="1379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700" dirty="0"/>
          </a:p>
        </p:txBody>
      </p:sp>
      <p:sp>
        <p:nvSpPr>
          <p:cNvPr id="45" name="Text 40"/>
          <p:cNvSpPr/>
          <p:nvPr/>
        </p:nvSpPr>
        <p:spPr>
          <a:xfrm>
            <a:off x="429768" y="2450592"/>
            <a:ext cx="1288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Resume in</a:t>
            </a:r>
            <a:endParaRPr lang="en-US" sz="840" dirty="0"/>
          </a:p>
        </p:txBody>
      </p:sp>
      <p:sp>
        <p:nvSpPr>
          <p:cNvPr id="46" name="Text 41"/>
          <p:cNvSpPr/>
          <p:nvPr/>
        </p:nvSpPr>
        <p:spPr>
          <a:xfrm>
            <a:off x="420624" y="2734056"/>
            <a:ext cx="1306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6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paste text or PDF</a:t>
            </a:r>
            <a:endParaRPr lang="en-US" sz="660" dirty="0"/>
          </a:p>
        </p:txBody>
      </p:sp>
      <p:sp>
        <p:nvSpPr>
          <p:cNvPr id="47" name="Shape 42"/>
          <p:cNvSpPr/>
          <p:nvPr/>
        </p:nvSpPr>
        <p:spPr>
          <a:xfrm>
            <a:off x="1763992" y="2697480"/>
            <a:ext cx="54864" cy="0"/>
          </a:xfrm>
          <a:prstGeom prst="line">
            <a:avLst/>
          </a:prstGeom>
          <a:noFill/>
          <a:ln w="12700">
            <a:solidFill>
              <a:srgbClr val="0B2A4A"/>
            </a:solidFill>
            <a:prstDash val="solid"/>
            <a:tailEnd type="triangle"/>
          </a:ln>
        </p:spPr>
      </p:sp>
      <p:sp>
        <p:nvSpPr>
          <p:cNvPr id="48" name="Shape 43"/>
          <p:cNvSpPr/>
          <p:nvPr/>
        </p:nvSpPr>
        <p:spPr>
          <a:xfrm>
            <a:off x="1818856" y="2231136"/>
            <a:ext cx="1379944" cy="932688"/>
          </a:xfrm>
          <a:prstGeom prst="roundRect">
            <a:avLst>
              <a:gd name="adj" fmla="val 5882"/>
            </a:avLst>
          </a:prstGeom>
          <a:solidFill>
            <a:srgbClr val="F7F8FA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1818856" y="2231136"/>
            <a:ext cx="1379944" cy="182880"/>
          </a:xfrm>
          <a:prstGeom prst="roundRect">
            <a:avLst>
              <a:gd name="adj" fmla="val 20000"/>
            </a:avLst>
          </a:prstGeom>
          <a:solidFill>
            <a:srgbClr val="0B2A4A"/>
          </a:solidFill>
          <a:ln/>
        </p:spPr>
      </p:sp>
      <p:sp>
        <p:nvSpPr>
          <p:cNvPr id="50" name="Text 45"/>
          <p:cNvSpPr/>
          <p:nvPr/>
        </p:nvSpPr>
        <p:spPr>
          <a:xfrm>
            <a:off x="1818856" y="2231136"/>
            <a:ext cx="1379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700" dirty="0"/>
          </a:p>
        </p:txBody>
      </p:sp>
      <p:sp>
        <p:nvSpPr>
          <p:cNvPr id="51" name="Text 46"/>
          <p:cNvSpPr/>
          <p:nvPr/>
        </p:nvSpPr>
        <p:spPr>
          <a:xfrm>
            <a:off x="1864576" y="2450592"/>
            <a:ext cx="1288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Readiness score</a:t>
            </a:r>
            <a:endParaRPr lang="en-US" sz="840" dirty="0"/>
          </a:p>
        </p:txBody>
      </p:sp>
      <p:sp>
        <p:nvSpPr>
          <p:cNvPr id="52" name="Text 47"/>
          <p:cNvSpPr/>
          <p:nvPr/>
        </p:nvSpPr>
        <p:spPr>
          <a:xfrm>
            <a:off x="1855432" y="2734056"/>
            <a:ext cx="1306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6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weighted dimensions</a:t>
            </a:r>
            <a:endParaRPr lang="en-US" sz="660" dirty="0"/>
          </a:p>
        </p:txBody>
      </p:sp>
      <p:sp>
        <p:nvSpPr>
          <p:cNvPr id="53" name="Shape 48"/>
          <p:cNvSpPr/>
          <p:nvPr/>
        </p:nvSpPr>
        <p:spPr>
          <a:xfrm>
            <a:off x="3198800" y="2697480"/>
            <a:ext cx="54864" cy="0"/>
          </a:xfrm>
          <a:prstGeom prst="line">
            <a:avLst/>
          </a:prstGeom>
          <a:noFill/>
          <a:ln w="12700">
            <a:solidFill>
              <a:srgbClr val="0B2A4A"/>
            </a:solidFill>
            <a:prstDash val="solid"/>
            <a:tailEnd type="triangle"/>
          </a:ln>
        </p:spPr>
      </p:sp>
      <p:sp>
        <p:nvSpPr>
          <p:cNvPr id="54" name="Shape 49"/>
          <p:cNvSpPr/>
          <p:nvPr/>
        </p:nvSpPr>
        <p:spPr>
          <a:xfrm>
            <a:off x="3253664" y="2231136"/>
            <a:ext cx="1379944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55" name="Shape 50"/>
          <p:cNvSpPr/>
          <p:nvPr/>
        </p:nvSpPr>
        <p:spPr>
          <a:xfrm>
            <a:off x="3253664" y="2231136"/>
            <a:ext cx="1379944" cy="182880"/>
          </a:xfrm>
          <a:prstGeom prst="roundRect">
            <a:avLst>
              <a:gd name="adj" fmla="val 20000"/>
            </a:avLst>
          </a:prstGeom>
          <a:solidFill>
            <a:srgbClr val="0B2A4A"/>
          </a:solidFill>
          <a:ln/>
        </p:spPr>
      </p:sp>
      <p:sp>
        <p:nvSpPr>
          <p:cNvPr id="56" name="Text 51"/>
          <p:cNvSpPr/>
          <p:nvPr/>
        </p:nvSpPr>
        <p:spPr>
          <a:xfrm>
            <a:off x="3253664" y="2231136"/>
            <a:ext cx="1379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700" dirty="0"/>
          </a:p>
        </p:txBody>
      </p:sp>
      <p:sp>
        <p:nvSpPr>
          <p:cNvPr id="57" name="Text 52"/>
          <p:cNvSpPr/>
          <p:nvPr/>
        </p:nvSpPr>
        <p:spPr>
          <a:xfrm>
            <a:off x="3299384" y="2450592"/>
            <a:ext cx="1288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 quiz</a:t>
            </a:r>
            <a:endParaRPr lang="en-US" sz="840" dirty="0"/>
          </a:p>
        </p:txBody>
      </p:sp>
      <p:sp>
        <p:nvSpPr>
          <p:cNvPr id="58" name="Text 53"/>
          <p:cNvSpPr/>
          <p:nvPr/>
        </p:nvSpPr>
        <p:spPr>
          <a:xfrm>
            <a:off x="3290240" y="2734056"/>
            <a:ext cx="1306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6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questions, 0-100</a:t>
            </a:r>
            <a:endParaRPr lang="en-US" sz="660" dirty="0"/>
          </a:p>
        </p:txBody>
      </p:sp>
      <p:sp>
        <p:nvSpPr>
          <p:cNvPr id="59" name="Shape 54"/>
          <p:cNvSpPr/>
          <p:nvPr/>
        </p:nvSpPr>
        <p:spPr>
          <a:xfrm>
            <a:off x="4633608" y="2697480"/>
            <a:ext cx="54864" cy="0"/>
          </a:xfrm>
          <a:prstGeom prst="line">
            <a:avLst/>
          </a:prstGeom>
          <a:noFill/>
          <a:ln w="12700">
            <a:solidFill>
              <a:srgbClr val="0B2A4A"/>
            </a:solidFill>
            <a:prstDash val="solid"/>
            <a:tailEnd type="triangle"/>
          </a:ln>
        </p:spPr>
      </p:sp>
      <p:sp>
        <p:nvSpPr>
          <p:cNvPr id="60" name="Shape 55"/>
          <p:cNvSpPr/>
          <p:nvPr/>
        </p:nvSpPr>
        <p:spPr>
          <a:xfrm>
            <a:off x="4688472" y="2231136"/>
            <a:ext cx="1379944" cy="932688"/>
          </a:xfrm>
          <a:prstGeom prst="roundRect">
            <a:avLst>
              <a:gd name="adj" fmla="val 5882"/>
            </a:avLst>
          </a:prstGeom>
          <a:solidFill>
            <a:srgbClr val="F7F8FA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61" name="Shape 56"/>
          <p:cNvSpPr/>
          <p:nvPr/>
        </p:nvSpPr>
        <p:spPr>
          <a:xfrm>
            <a:off x="4688472" y="2231136"/>
            <a:ext cx="1379944" cy="182880"/>
          </a:xfrm>
          <a:prstGeom prst="roundRect">
            <a:avLst>
              <a:gd name="adj" fmla="val 20000"/>
            </a:avLst>
          </a:prstGeom>
          <a:solidFill>
            <a:srgbClr val="0B2A4A"/>
          </a:solidFill>
          <a:ln/>
        </p:spPr>
      </p:sp>
      <p:sp>
        <p:nvSpPr>
          <p:cNvPr id="62" name="Text 57"/>
          <p:cNvSpPr/>
          <p:nvPr/>
        </p:nvSpPr>
        <p:spPr>
          <a:xfrm>
            <a:off x="4688472" y="2231136"/>
            <a:ext cx="1379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700" dirty="0"/>
          </a:p>
        </p:txBody>
      </p:sp>
      <p:sp>
        <p:nvSpPr>
          <p:cNvPr id="63" name="Text 58"/>
          <p:cNvSpPr/>
          <p:nvPr/>
        </p:nvSpPr>
        <p:spPr>
          <a:xfrm>
            <a:off x="4734192" y="2450592"/>
            <a:ext cx="1288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Gap quests</a:t>
            </a:r>
            <a:endParaRPr lang="en-US" sz="840" dirty="0"/>
          </a:p>
        </p:txBody>
      </p:sp>
      <p:sp>
        <p:nvSpPr>
          <p:cNvPr id="64" name="Text 59"/>
          <p:cNvSpPr/>
          <p:nvPr/>
        </p:nvSpPr>
        <p:spPr>
          <a:xfrm>
            <a:off x="4725048" y="2734056"/>
            <a:ext cx="1306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6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course + project</a:t>
            </a:r>
            <a:endParaRPr lang="en-US" sz="660" dirty="0"/>
          </a:p>
        </p:txBody>
      </p:sp>
      <p:sp>
        <p:nvSpPr>
          <p:cNvPr id="65" name="Shape 60"/>
          <p:cNvSpPr/>
          <p:nvPr/>
        </p:nvSpPr>
        <p:spPr>
          <a:xfrm>
            <a:off x="6068416" y="2697480"/>
            <a:ext cx="54864" cy="0"/>
          </a:xfrm>
          <a:prstGeom prst="line">
            <a:avLst/>
          </a:prstGeom>
          <a:noFill/>
          <a:ln w="12700">
            <a:solidFill>
              <a:srgbClr val="0B2A4A"/>
            </a:solidFill>
            <a:prstDash val="solid"/>
            <a:tailEnd type="triangle"/>
          </a:ln>
        </p:spPr>
      </p:sp>
      <p:sp>
        <p:nvSpPr>
          <p:cNvPr id="66" name="Shape 61"/>
          <p:cNvSpPr/>
          <p:nvPr/>
        </p:nvSpPr>
        <p:spPr>
          <a:xfrm>
            <a:off x="6123280" y="2231136"/>
            <a:ext cx="1379944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67" name="Shape 62"/>
          <p:cNvSpPr/>
          <p:nvPr/>
        </p:nvSpPr>
        <p:spPr>
          <a:xfrm>
            <a:off x="6123280" y="2231136"/>
            <a:ext cx="1379944" cy="182880"/>
          </a:xfrm>
          <a:prstGeom prst="roundRect">
            <a:avLst>
              <a:gd name="adj" fmla="val 20000"/>
            </a:avLst>
          </a:prstGeom>
          <a:solidFill>
            <a:srgbClr val="0B2A4A"/>
          </a:solidFill>
          <a:ln/>
        </p:spPr>
      </p:sp>
      <p:sp>
        <p:nvSpPr>
          <p:cNvPr id="68" name="Text 63"/>
          <p:cNvSpPr/>
          <p:nvPr/>
        </p:nvSpPr>
        <p:spPr>
          <a:xfrm>
            <a:off x="6123280" y="2231136"/>
            <a:ext cx="1379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700" dirty="0"/>
          </a:p>
        </p:txBody>
      </p:sp>
      <p:sp>
        <p:nvSpPr>
          <p:cNvPr id="69" name="Text 64"/>
          <p:cNvSpPr/>
          <p:nvPr/>
        </p:nvSpPr>
        <p:spPr>
          <a:xfrm>
            <a:off x="6169000" y="2450592"/>
            <a:ext cx="1288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</a:t>
            </a:r>
            <a:endParaRPr lang="en-US" sz="840" dirty="0"/>
          </a:p>
        </p:txBody>
      </p:sp>
      <p:sp>
        <p:nvSpPr>
          <p:cNvPr id="70" name="Text 65"/>
          <p:cNvSpPr/>
          <p:nvPr/>
        </p:nvSpPr>
        <p:spPr>
          <a:xfrm>
            <a:off x="6159856" y="2734056"/>
            <a:ext cx="1306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6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proof URL required</a:t>
            </a:r>
            <a:endParaRPr lang="en-US" sz="660" dirty="0"/>
          </a:p>
        </p:txBody>
      </p:sp>
      <p:sp>
        <p:nvSpPr>
          <p:cNvPr id="71" name="Shape 66"/>
          <p:cNvSpPr/>
          <p:nvPr/>
        </p:nvSpPr>
        <p:spPr>
          <a:xfrm>
            <a:off x="7503224" y="2697480"/>
            <a:ext cx="54864" cy="0"/>
          </a:xfrm>
          <a:prstGeom prst="line">
            <a:avLst/>
          </a:prstGeom>
          <a:noFill/>
          <a:ln w="12700">
            <a:solidFill>
              <a:srgbClr val="0B2A4A"/>
            </a:solidFill>
            <a:prstDash val="solid"/>
            <a:tailEnd type="triangle"/>
          </a:ln>
        </p:spPr>
      </p:sp>
      <p:sp>
        <p:nvSpPr>
          <p:cNvPr id="72" name="Shape 67"/>
          <p:cNvSpPr/>
          <p:nvPr/>
        </p:nvSpPr>
        <p:spPr>
          <a:xfrm>
            <a:off x="7558088" y="2231136"/>
            <a:ext cx="1379944" cy="932688"/>
          </a:xfrm>
          <a:prstGeom prst="roundRect">
            <a:avLst>
              <a:gd name="adj" fmla="val 5882"/>
            </a:avLst>
          </a:prstGeom>
          <a:solidFill>
            <a:srgbClr val="F7F8FA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73" name="Shape 68"/>
          <p:cNvSpPr/>
          <p:nvPr/>
        </p:nvSpPr>
        <p:spPr>
          <a:xfrm>
            <a:off x="7558088" y="2231136"/>
            <a:ext cx="1379944" cy="182880"/>
          </a:xfrm>
          <a:prstGeom prst="roundRect">
            <a:avLst>
              <a:gd name="adj" fmla="val 20000"/>
            </a:avLst>
          </a:prstGeom>
          <a:solidFill>
            <a:srgbClr val="0B2A4A"/>
          </a:solidFill>
          <a:ln/>
        </p:spPr>
      </p:sp>
      <p:sp>
        <p:nvSpPr>
          <p:cNvPr id="74" name="Text 69"/>
          <p:cNvSpPr/>
          <p:nvPr/>
        </p:nvSpPr>
        <p:spPr>
          <a:xfrm>
            <a:off x="7558088" y="2231136"/>
            <a:ext cx="1379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700" dirty="0"/>
          </a:p>
        </p:txBody>
      </p:sp>
      <p:sp>
        <p:nvSpPr>
          <p:cNvPr id="75" name="Text 70"/>
          <p:cNvSpPr/>
          <p:nvPr/>
        </p:nvSpPr>
        <p:spPr>
          <a:xfrm>
            <a:off x="7603808" y="2450592"/>
            <a:ext cx="1288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 score</a:t>
            </a:r>
            <a:endParaRPr lang="en-US" sz="840" dirty="0"/>
          </a:p>
        </p:txBody>
      </p:sp>
      <p:sp>
        <p:nvSpPr>
          <p:cNvPr id="76" name="Text 71"/>
          <p:cNvSpPr/>
          <p:nvPr/>
        </p:nvSpPr>
        <p:spPr>
          <a:xfrm>
            <a:off x="7594663" y="2734056"/>
            <a:ext cx="1306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6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rank band assigned</a:t>
            </a:r>
            <a:endParaRPr lang="en-US" sz="660" dirty="0"/>
          </a:p>
        </p:txBody>
      </p:sp>
      <p:sp>
        <p:nvSpPr>
          <p:cNvPr id="77" name="Shape 72"/>
          <p:cNvSpPr/>
          <p:nvPr/>
        </p:nvSpPr>
        <p:spPr>
          <a:xfrm>
            <a:off x="8938031" y="2697480"/>
            <a:ext cx="54864" cy="0"/>
          </a:xfrm>
          <a:prstGeom prst="line">
            <a:avLst/>
          </a:prstGeom>
          <a:noFill/>
          <a:ln w="12700">
            <a:solidFill>
              <a:srgbClr val="0B2A4A"/>
            </a:solidFill>
            <a:prstDash val="solid"/>
            <a:tailEnd type="triangle"/>
          </a:ln>
        </p:spPr>
      </p:sp>
      <p:sp>
        <p:nvSpPr>
          <p:cNvPr id="78" name="Shape 73"/>
          <p:cNvSpPr/>
          <p:nvPr/>
        </p:nvSpPr>
        <p:spPr>
          <a:xfrm>
            <a:off x="8992895" y="2231136"/>
            <a:ext cx="1379944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79" name="Shape 74"/>
          <p:cNvSpPr/>
          <p:nvPr/>
        </p:nvSpPr>
        <p:spPr>
          <a:xfrm>
            <a:off x="8992895" y="2231136"/>
            <a:ext cx="1379944" cy="182880"/>
          </a:xfrm>
          <a:prstGeom prst="roundRect">
            <a:avLst>
              <a:gd name="adj" fmla="val 20000"/>
            </a:avLst>
          </a:prstGeom>
          <a:solidFill>
            <a:srgbClr val="0B2A4A"/>
          </a:solidFill>
          <a:ln/>
        </p:spPr>
      </p:sp>
      <p:sp>
        <p:nvSpPr>
          <p:cNvPr id="80" name="Text 75"/>
          <p:cNvSpPr/>
          <p:nvPr/>
        </p:nvSpPr>
        <p:spPr>
          <a:xfrm>
            <a:off x="8992895" y="2231136"/>
            <a:ext cx="1379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700" dirty="0"/>
          </a:p>
        </p:txBody>
      </p:sp>
      <p:sp>
        <p:nvSpPr>
          <p:cNvPr id="81" name="Text 76"/>
          <p:cNvSpPr/>
          <p:nvPr/>
        </p:nvSpPr>
        <p:spPr>
          <a:xfrm>
            <a:off x="9038615" y="2450592"/>
            <a:ext cx="1288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Eligibility gate</a:t>
            </a:r>
            <a:endParaRPr lang="en-US" sz="840" dirty="0"/>
          </a:p>
        </p:txBody>
      </p:sp>
      <p:sp>
        <p:nvSpPr>
          <p:cNvPr id="82" name="Text 77"/>
          <p:cNvSpPr/>
          <p:nvPr/>
        </p:nvSpPr>
        <p:spPr>
          <a:xfrm>
            <a:off x="9029471" y="2734056"/>
            <a:ext cx="1306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6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industry sets the bar</a:t>
            </a:r>
            <a:endParaRPr lang="en-US" sz="660" dirty="0"/>
          </a:p>
        </p:txBody>
      </p:sp>
      <p:sp>
        <p:nvSpPr>
          <p:cNvPr id="83" name="Shape 78"/>
          <p:cNvSpPr/>
          <p:nvPr/>
        </p:nvSpPr>
        <p:spPr>
          <a:xfrm>
            <a:off x="10372839" y="2697480"/>
            <a:ext cx="54864" cy="0"/>
          </a:xfrm>
          <a:prstGeom prst="line">
            <a:avLst/>
          </a:prstGeom>
          <a:noFill/>
          <a:ln w="12700">
            <a:solidFill>
              <a:srgbClr val="0B2A4A"/>
            </a:solidFill>
            <a:prstDash val="solid"/>
            <a:tailEnd type="triangle"/>
          </a:ln>
        </p:spPr>
      </p:sp>
      <p:sp>
        <p:nvSpPr>
          <p:cNvPr id="84" name="Shape 79"/>
          <p:cNvSpPr/>
          <p:nvPr/>
        </p:nvSpPr>
        <p:spPr>
          <a:xfrm>
            <a:off x="10427703" y="2231136"/>
            <a:ext cx="1379944" cy="932688"/>
          </a:xfrm>
          <a:prstGeom prst="roundRect">
            <a:avLst>
              <a:gd name="adj" fmla="val 5882"/>
            </a:avLst>
          </a:prstGeom>
          <a:solidFill>
            <a:srgbClr val="F7F8FA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85" name="Shape 80"/>
          <p:cNvSpPr/>
          <p:nvPr/>
        </p:nvSpPr>
        <p:spPr>
          <a:xfrm>
            <a:off x="10427703" y="2231136"/>
            <a:ext cx="1379944" cy="182880"/>
          </a:xfrm>
          <a:prstGeom prst="roundRect">
            <a:avLst>
              <a:gd name="adj" fmla="val 20000"/>
            </a:avLst>
          </a:prstGeom>
          <a:solidFill>
            <a:srgbClr val="0B2A4A"/>
          </a:solidFill>
          <a:ln/>
        </p:spPr>
      </p:sp>
      <p:sp>
        <p:nvSpPr>
          <p:cNvPr id="86" name="Text 81"/>
          <p:cNvSpPr/>
          <p:nvPr/>
        </p:nvSpPr>
        <p:spPr>
          <a:xfrm>
            <a:off x="10427703" y="2231136"/>
            <a:ext cx="1379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700" dirty="0"/>
          </a:p>
        </p:txBody>
      </p:sp>
      <p:sp>
        <p:nvSpPr>
          <p:cNvPr id="87" name="Text 82"/>
          <p:cNvSpPr/>
          <p:nvPr/>
        </p:nvSpPr>
        <p:spPr>
          <a:xfrm>
            <a:off x="10473423" y="2450592"/>
            <a:ext cx="1288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+ verify</a:t>
            </a:r>
            <a:endParaRPr lang="en-US" sz="840" dirty="0"/>
          </a:p>
        </p:txBody>
      </p:sp>
      <p:sp>
        <p:nvSpPr>
          <p:cNvPr id="88" name="Text 83"/>
          <p:cNvSpPr/>
          <p:nvPr/>
        </p:nvSpPr>
        <p:spPr>
          <a:xfrm>
            <a:off x="10464279" y="2734056"/>
            <a:ext cx="1306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6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pipeline, QR passport</a:t>
            </a:r>
            <a:endParaRPr lang="en-US" sz="660" dirty="0"/>
          </a:p>
        </p:txBody>
      </p:sp>
      <p:sp>
        <p:nvSpPr>
          <p:cNvPr id="89" name="Text 84"/>
          <p:cNvSpPr/>
          <p:nvPr/>
        </p:nvSpPr>
        <p:spPr>
          <a:xfrm>
            <a:off x="384048" y="3218688"/>
            <a:ext cx="1142359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78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177 passing unit tests across 34 suites guard the scoring, matching and verification math.</a:t>
            </a:r>
            <a:endParaRPr lang="en-US" sz="78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78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Pure-function logic layer (src/lib) so the engine is testable without a browser.</a:t>
            </a:r>
            <a:endParaRPr lang="en-US" sz="780" dirty="0"/>
          </a:p>
        </p:txBody>
      </p:sp>
      <p:sp>
        <p:nvSpPr>
          <p:cNvPr id="90" name="Text 85"/>
          <p:cNvSpPr/>
          <p:nvPr/>
        </p:nvSpPr>
        <p:spPr>
          <a:xfrm>
            <a:off x="384048" y="3675888"/>
            <a:ext cx="1142359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0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WORKING PROTOTYPE — REAL SCREENSHOTS FROM THE LIVE APP</a:t>
            </a:r>
            <a:endParaRPr lang="en-US" sz="800" dirty="0"/>
          </a:p>
        </p:txBody>
      </p:sp>
      <p:sp>
        <p:nvSpPr>
          <p:cNvPr id="91" name="Shape 86"/>
          <p:cNvSpPr/>
          <p:nvPr/>
        </p:nvSpPr>
        <p:spPr>
          <a:xfrm>
            <a:off x="384048" y="3931920"/>
            <a:ext cx="1812493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9525">
            <a:solidFill>
              <a:srgbClr val="E3E7EC"/>
            </a:solidFill>
            <a:prstDash val="solid"/>
          </a:ln>
        </p:spPr>
      </p:sp>
      <p:pic>
        <p:nvPicPr>
          <p:cNvPr id="92" name="Image 3" descr="Application screenshot: Avsar front door for Ayush students, with the rotatory internship tracker and the Shishiksha orientation checklist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11480" y="3959352"/>
            <a:ext cx="1757629" cy="1426464"/>
          </a:xfrm>
          <a:prstGeom prst="rect">
            <a:avLst/>
          </a:prstGeom>
        </p:spPr>
      </p:pic>
      <p:sp>
        <p:nvSpPr>
          <p:cNvPr id="93" name="Text 87"/>
          <p:cNvSpPr/>
          <p:nvPr/>
        </p:nvSpPr>
        <p:spPr>
          <a:xfrm>
            <a:off x="384048" y="5440680"/>
            <a:ext cx="18124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 door: Ayush student home</a:t>
            </a:r>
            <a:endParaRPr lang="en-US" sz="660" dirty="0"/>
          </a:p>
        </p:txBody>
      </p:sp>
      <p:sp>
        <p:nvSpPr>
          <p:cNvPr id="94" name="Shape 88"/>
          <p:cNvSpPr/>
          <p:nvPr/>
        </p:nvSpPr>
        <p:spPr>
          <a:xfrm>
            <a:off x="2306269" y="3931920"/>
            <a:ext cx="1812493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9525">
            <a:solidFill>
              <a:srgbClr val="E3E7EC"/>
            </a:solidFill>
            <a:prstDash val="solid"/>
          </a:ln>
        </p:spPr>
      </p:sp>
      <p:pic>
        <p:nvPicPr>
          <p:cNvPr id="95" name="Image 4" descr="Application screenshot: student home dashboard summarising readiness, recurring skill gaps and next actions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2333701" y="3959352"/>
            <a:ext cx="1757629" cy="1426464"/>
          </a:xfrm>
          <a:prstGeom prst="rect">
            <a:avLst/>
          </a:prstGeom>
        </p:spPr>
      </p:pic>
      <p:sp>
        <p:nvSpPr>
          <p:cNvPr id="96" name="Text 89"/>
          <p:cNvSpPr/>
          <p:nvPr/>
        </p:nvSpPr>
        <p:spPr>
          <a:xfrm>
            <a:off x="2306269" y="5440680"/>
            <a:ext cx="18124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 dashboard</a:t>
            </a:r>
            <a:endParaRPr lang="en-US" sz="660" dirty="0"/>
          </a:p>
        </p:txBody>
      </p:sp>
      <p:sp>
        <p:nvSpPr>
          <p:cNvPr id="97" name="Shape 90"/>
          <p:cNvSpPr/>
          <p:nvPr/>
        </p:nvSpPr>
        <p:spPr>
          <a:xfrm>
            <a:off x="4228490" y="3931920"/>
            <a:ext cx="1812493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9525">
            <a:solidFill>
              <a:srgbClr val="E3E7EC"/>
            </a:solidFill>
            <a:prstDash val="solid"/>
          </a:ln>
        </p:spPr>
      </p:sp>
      <p:pic>
        <p:nvPicPr>
          <p:cNvPr id="98" name="Image 5" descr="Application screenshot: the skill journey timeline from assessment through to a verified portfolio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255922" y="3959352"/>
            <a:ext cx="1757629" cy="1426464"/>
          </a:xfrm>
          <a:prstGeom prst="rect">
            <a:avLst/>
          </a:prstGeom>
        </p:spPr>
      </p:pic>
      <p:sp>
        <p:nvSpPr>
          <p:cNvPr id="99" name="Text 91"/>
          <p:cNvSpPr/>
          <p:nvPr/>
        </p:nvSpPr>
        <p:spPr>
          <a:xfrm>
            <a:off x="4228490" y="5440680"/>
            <a:ext cx="18124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 journey timeline</a:t>
            </a:r>
            <a:endParaRPr lang="en-US" sz="660" dirty="0"/>
          </a:p>
        </p:txBody>
      </p:sp>
      <p:sp>
        <p:nvSpPr>
          <p:cNvPr id="100" name="Shape 92"/>
          <p:cNvSpPr/>
          <p:nvPr/>
        </p:nvSpPr>
        <p:spPr>
          <a:xfrm>
            <a:off x="6150712" y="3931920"/>
            <a:ext cx="1812493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9525">
            <a:solidFill>
              <a:srgbClr val="E3E7EC"/>
            </a:solidFill>
            <a:prstDash val="solid"/>
          </a:ln>
        </p:spPr>
      </p:sp>
      <p:pic>
        <p:nvPicPr>
          <p:cNvPr id="101" name="Image 6" descr="Application screenshot: readiness score with a five-dimension breakdown and traced fixes that raise the score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6178144" y="3959352"/>
            <a:ext cx="1757629" cy="1426464"/>
          </a:xfrm>
          <a:prstGeom prst="rect">
            <a:avLst/>
          </a:prstGeom>
        </p:spPr>
      </p:pic>
      <p:sp>
        <p:nvSpPr>
          <p:cNvPr id="102" name="Text 93"/>
          <p:cNvSpPr/>
          <p:nvPr/>
        </p:nvSpPr>
        <p:spPr>
          <a:xfrm>
            <a:off x="6150712" y="5440680"/>
            <a:ext cx="18124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Readiness score, 5 dimensions</a:t>
            </a:r>
            <a:endParaRPr lang="en-US" sz="660" dirty="0"/>
          </a:p>
        </p:txBody>
      </p:sp>
      <p:sp>
        <p:nvSpPr>
          <p:cNvPr id="103" name="Shape 94"/>
          <p:cNvSpPr/>
          <p:nvPr/>
        </p:nvSpPr>
        <p:spPr>
          <a:xfrm>
            <a:off x="8072933" y="3931920"/>
            <a:ext cx="1812493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9525">
            <a:solidFill>
              <a:srgbClr val="E3E7EC"/>
            </a:solidFill>
            <a:prstDash val="solid"/>
          </a:ln>
        </p:spPr>
      </p:sp>
      <p:pic>
        <p:nvPicPr>
          <p:cNvPr id="104" name="Image 7" descr="Application screenshot: internship and job feed with explainable fit score and eligibility chips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8100365" y="3959352"/>
            <a:ext cx="1757629" cy="1426464"/>
          </a:xfrm>
          <a:prstGeom prst="rect">
            <a:avLst/>
          </a:prstGeom>
        </p:spPr>
      </p:pic>
      <p:sp>
        <p:nvSpPr>
          <p:cNvPr id="105" name="Text 95"/>
          <p:cNvSpPr/>
          <p:nvPr/>
        </p:nvSpPr>
        <p:spPr>
          <a:xfrm>
            <a:off x="8072933" y="5440680"/>
            <a:ext cx="18124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 feed: fit and eligibility</a:t>
            </a:r>
            <a:endParaRPr lang="en-US" sz="660" dirty="0"/>
          </a:p>
        </p:txBody>
      </p:sp>
      <p:sp>
        <p:nvSpPr>
          <p:cNvPr id="106" name="Shape 96"/>
          <p:cNvSpPr/>
          <p:nvPr/>
        </p:nvSpPr>
        <p:spPr>
          <a:xfrm>
            <a:off x="9995154" y="3931920"/>
            <a:ext cx="1812493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9525">
            <a:solidFill>
              <a:srgbClr val="E3E7EC"/>
            </a:solidFill>
            <a:prstDash val="solid"/>
          </a:ln>
        </p:spPr>
      </p:sp>
      <p:pic>
        <p:nvPicPr>
          <p:cNvPr id="107" name="Image 8" descr="Application screenshot: industry role posting form with a ranked, explainable shortlist of candidates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10022586" y="3959352"/>
            <a:ext cx="1757629" cy="1426464"/>
          </a:xfrm>
          <a:prstGeom prst="rect">
            <a:avLst/>
          </a:prstGeom>
        </p:spPr>
      </p:pic>
      <p:sp>
        <p:nvSpPr>
          <p:cNvPr id="108" name="Text 97"/>
          <p:cNvSpPr/>
          <p:nvPr/>
        </p:nvSpPr>
        <p:spPr>
          <a:xfrm>
            <a:off x="9995154" y="5440680"/>
            <a:ext cx="18124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Industry post, live in feed</a:t>
            </a:r>
            <a:endParaRPr lang="en-US" sz="6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ityscape silhouette: students, colleges, hospitals, offices and a growth chart, representing the academia and industry the portal connec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116527"/>
            <a:ext cx="12191695" cy="2576881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693408"/>
            <a:ext cx="12191695" cy="82296"/>
          </a:xfrm>
          <a:prstGeom prst="rect">
            <a:avLst/>
          </a:prstGeom>
          <a:solidFill>
            <a:srgbClr val="138808"/>
          </a:solidFill>
          <a:ln/>
        </p:spPr>
      </p:sp>
      <p:pic>
        <p:nvPicPr>
          <p:cNvPr id="4" name="Image 1" descr="Team Zencoderss wordmar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73736"/>
            <a:ext cx="1876349" cy="43434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3850996" y="137160"/>
            <a:ext cx="4489704" cy="530352"/>
          </a:xfrm>
          <a:prstGeom prst="roundRect">
            <a:avLst>
              <a:gd name="adj" fmla="val 86207"/>
            </a:avLst>
          </a:prstGeom>
          <a:solidFill>
            <a:srgbClr val="138808"/>
          </a:solidFill>
          <a:ln/>
        </p:spPr>
      </p:sp>
      <p:sp>
        <p:nvSpPr>
          <p:cNvPr id="6" name="Text 2"/>
          <p:cNvSpPr/>
          <p:nvPr/>
        </p:nvSpPr>
        <p:spPr>
          <a:xfrm>
            <a:off x="3850996" y="137160"/>
            <a:ext cx="44897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spc="1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FEASIBILITY AND VIABILITY</a:t>
            </a:r>
            <a:endParaRPr lang="en-US" sz="1700" dirty="0"/>
          </a:p>
        </p:txBody>
      </p:sp>
      <p:sp>
        <p:nvSpPr>
          <p:cNvPr id="7" name="Text 3"/>
          <p:cNvSpPr/>
          <p:nvPr/>
        </p:nvSpPr>
        <p:spPr>
          <a:xfrm>
            <a:off x="10506456" y="192024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0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INDIA HACKATHON</a:t>
            </a:r>
            <a:endParaRPr lang="en-US" sz="900" dirty="0"/>
          </a:p>
          <a:p>
            <a:pPr algn="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0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</a:t>
            </a:r>
            <a:endParaRPr lang="en-US" sz="900" dirty="0"/>
          </a:p>
        </p:txBody>
      </p:sp>
      <p:pic>
        <p:nvPicPr>
          <p:cNvPr id="8" name="Image 2" descr="Smart India Hackathon 2026 official log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9069" y="155448"/>
            <a:ext cx="504235" cy="56692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84048" y="932688"/>
            <a:ext cx="1142359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13880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MODEL — WHO PAYS, AND WHY IT SURVIVES</a:t>
            </a:r>
            <a:endParaRPr lang="en-US" sz="800" dirty="0"/>
          </a:p>
        </p:txBody>
      </p:sp>
      <p:sp>
        <p:nvSpPr>
          <p:cNvPr id="10" name="Shape 5"/>
          <p:cNvSpPr/>
          <p:nvPr/>
        </p:nvSpPr>
        <p:spPr>
          <a:xfrm>
            <a:off x="384048" y="1133856"/>
            <a:ext cx="3710330" cy="1133856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384048" y="1133856"/>
            <a:ext cx="3710330" cy="50292"/>
          </a:xfrm>
          <a:prstGeom prst="rect">
            <a:avLst/>
          </a:prstGeom>
          <a:solidFill>
            <a:srgbClr val="138808"/>
          </a:solidFill>
          <a:ln/>
        </p:spPr>
      </p:sp>
      <p:sp>
        <p:nvSpPr>
          <p:cNvPr id="12" name="Text 7"/>
          <p:cNvSpPr/>
          <p:nvPr/>
        </p:nvSpPr>
        <p:spPr>
          <a:xfrm>
            <a:off x="512064" y="1252728"/>
            <a:ext cx="34542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Students + Institutions</a:t>
            </a:r>
            <a:endParaRPr lang="en-US" sz="860" dirty="0"/>
          </a:p>
        </p:txBody>
      </p:sp>
      <p:sp>
        <p:nvSpPr>
          <p:cNvPr id="13" name="Text 8"/>
          <p:cNvSpPr/>
          <p:nvPr/>
        </p:nvSpPr>
        <p:spPr>
          <a:xfrm>
            <a:off x="512064" y="1481328"/>
            <a:ext cx="3454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880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512064" y="1792224"/>
            <a:ext cx="34542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Ministry / institution deployment. No student ever pays, and no account is needed to start.</a:t>
            </a:r>
            <a:endParaRPr lang="en-US" sz="700" dirty="0"/>
          </a:p>
        </p:txBody>
      </p:sp>
      <p:sp>
        <p:nvSpPr>
          <p:cNvPr id="15" name="Shape 10"/>
          <p:cNvSpPr/>
          <p:nvPr/>
        </p:nvSpPr>
        <p:spPr>
          <a:xfrm>
            <a:off x="4240682" y="1133856"/>
            <a:ext cx="3710330" cy="1133856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240682" y="1133856"/>
            <a:ext cx="3710330" cy="50292"/>
          </a:xfrm>
          <a:prstGeom prst="rect">
            <a:avLst/>
          </a:prstGeom>
          <a:solidFill>
            <a:srgbClr val="138808"/>
          </a:solidFill>
          <a:ln/>
        </p:spPr>
      </p:sp>
      <p:sp>
        <p:nvSpPr>
          <p:cNvPr id="17" name="Text 12"/>
          <p:cNvSpPr/>
          <p:nvPr/>
        </p:nvSpPr>
        <p:spPr>
          <a:xfrm>
            <a:off x="4368698" y="1252728"/>
            <a:ext cx="34542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Industry + Hospitals</a:t>
            </a:r>
            <a:endParaRPr lang="en-US" sz="860" dirty="0"/>
          </a:p>
        </p:txBody>
      </p:sp>
      <p:sp>
        <p:nvSpPr>
          <p:cNvPr id="18" name="Text 13"/>
          <p:cNvSpPr/>
          <p:nvPr/>
        </p:nvSpPr>
        <p:spPr>
          <a:xfrm>
            <a:off x="4368698" y="1481328"/>
            <a:ext cx="3454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880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Premium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4368698" y="1792224"/>
            <a:ext cx="34542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Shortlisting analytics and program promotion. They fund the platform; students never do.</a:t>
            </a:r>
            <a:endParaRPr lang="en-US" sz="700" dirty="0"/>
          </a:p>
        </p:txBody>
      </p:sp>
      <p:sp>
        <p:nvSpPr>
          <p:cNvPr id="20" name="Shape 15"/>
          <p:cNvSpPr/>
          <p:nvPr/>
        </p:nvSpPr>
        <p:spPr>
          <a:xfrm>
            <a:off x="8097317" y="1133856"/>
            <a:ext cx="3710330" cy="1133856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097317" y="1133856"/>
            <a:ext cx="3710330" cy="50292"/>
          </a:xfrm>
          <a:prstGeom prst="rect">
            <a:avLst/>
          </a:prstGeom>
          <a:solidFill>
            <a:srgbClr val="138808"/>
          </a:solidFill>
          <a:ln/>
        </p:spPr>
      </p:sp>
      <p:sp>
        <p:nvSpPr>
          <p:cNvPr id="22" name="Text 17"/>
          <p:cNvSpPr/>
          <p:nvPr/>
        </p:nvSpPr>
        <p:spPr>
          <a:xfrm>
            <a:off x="8225333" y="1252728"/>
            <a:ext cx="34542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Certification providers</a:t>
            </a:r>
            <a:endParaRPr lang="en-US" sz="860" dirty="0"/>
          </a:p>
        </p:txBody>
      </p:sp>
      <p:sp>
        <p:nvSpPr>
          <p:cNvPr id="23" name="Text 18"/>
          <p:cNvSpPr/>
          <p:nvPr/>
        </p:nvSpPr>
        <p:spPr>
          <a:xfrm>
            <a:off x="8225333" y="1481328"/>
            <a:ext cx="3454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880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share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8225333" y="1792224"/>
            <a:ext cx="34542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Course and certification referrals attached to a diagnosed gap, not to a banner ad.</a:t>
            </a:r>
            <a:endParaRPr lang="en-US" sz="700" dirty="0"/>
          </a:p>
        </p:txBody>
      </p:sp>
      <p:sp>
        <p:nvSpPr>
          <p:cNvPr id="25" name="Text 20"/>
          <p:cNvSpPr/>
          <p:nvPr/>
        </p:nvSpPr>
        <p:spPr>
          <a:xfrm>
            <a:off x="384048" y="2377440"/>
            <a:ext cx="1142359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13880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 · ECONOMIC · OPERATIONAL FEASIBILITY</a:t>
            </a:r>
            <a:endParaRPr lang="en-US" sz="800" dirty="0"/>
          </a:p>
        </p:txBody>
      </p:sp>
      <p:sp>
        <p:nvSpPr>
          <p:cNvPr id="26" name="Shape 21"/>
          <p:cNvSpPr/>
          <p:nvPr/>
        </p:nvSpPr>
        <p:spPr>
          <a:xfrm>
            <a:off x="384048" y="2578608"/>
            <a:ext cx="3710330" cy="1682496"/>
          </a:xfrm>
          <a:prstGeom prst="roundRect">
            <a:avLst>
              <a:gd name="adj" fmla="val 3261"/>
            </a:avLst>
          </a:prstGeom>
          <a:solidFill>
            <a:srgbClr val="FFFFFF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384048" y="2578608"/>
            <a:ext cx="45720" cy="1682496"/>
          </a:xfrm>
          <a:prstGeom prst="rect">
            <a:avLst/>
          </a:prstGeom>
          <a:solidFill>
            <a:srgbClr val="138808"/>
          </a:solidFill>
          <a:ln/>
        </p:spPr>
      </p:sp>
      <p:sp>
        <p:nvSpPr>
          <p:cNvPr id="28" name="Text 23"/>
          <p:cNvSpPr/>
          <p:nvPr/>
        </p:nvSpPr>
        <p:spPr>
          <a:xfrm>
            <a:off x="530352" y="2651760"/>
            <a:ext cx="343601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13880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</a:t>
            </a:r>
            <a:endParaRPr lang="en-US" sz="940" dirty="0"/>
          </a:p>
        </p:txBody>
      </p:sp>
      <p:sp>
        <p:nvSpPr>
          <p:cNvPr id="29" name="Text 24"/>
          <p:cNvSpPr/>
          <p:nvPr/>
        </p:nvSpPr>
        <p:spPr>
          <a:xfrm>
            <a:off x="530352" y="2871216"/>
            <a:ext cx="343601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400"/>
              </a:spcAft>
              <a:buSzPct val="100000"/>
              <a:buChar char="▪"/>
            </a:pPr>
            <a:r>
              <a:rPr lang="en-US" sz="72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Static SPA plus managed Postgres. No server to operate, no ops burden at a nodal centre.</a:t>
            </a:r>
            <a:endParaRPr lang="en-US" sz="720" dirty="0"/>
          </a:p>
          <a:p>
            <a:pPr marL="342900" indent="-342900">
              <a:lnSpc>
                <a:spcPct val="108000"/>
              </a:lnSpc>
              <a:spcAft>
                <a:spcPts val="400"/>
              </a:spcAft>
              <a:buSzPct val="100000"/>
              <a:buChar char="▪"/>
            </a:pPr>
            <a:r>
              <a:rPr lang="en-US" sz="72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Scoring, matching and credential signing are pure functions under test.</a:t>
            </a:r>
            <a:endParaRPr lang="en-US" sz="720" dirty="0"/>
          </a:p>
          <a:p>
            <a:pPr marL="342900" indent="-342900">
              <a:lnSpc>
                <a:spcPct val="108000"/>
              </a:lnSpc>
              <a:spcAft>
                <a:spcPts val="400"/>
              </a:spcAft>
              <a:buSzPct val="100000"/>
              <a:buChar char="▪"/>
            </a:pPr>
            <a:r>
              <a:rPr lang="en-US" sz="72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Six tables and anon REST policies cover the whole lifecycle.</a:t>
            </a:r>
            <a:endParaRPr lang="en-US" sz="720" dirty="0"/>
          </a:p>
        </p:txBody>
      </p:sp>
      <p:sp>
        <p:nvSpPr>
          <p:cNvPr id="30" name="Shape 25"/>
          <p:cNvSpPr/>
          <p:nvPr/>
        </p:nvSpPr>
        <p:spPr>
          <a:xfrm>
            <a:off x="4240682" y="2578608"/>
            <a:ext cx="3710330" cy="1682496"/>
          </a:xfrm>
          <a:prstGeom prst="roundRect">
            <a:avLst>
              <a:gd name="adj" fmla="val 3261"/>
            </a:avLst>
          </a:prstGeom>
          <a:solidFill>
            <a:srgbClr val="FFFFFF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4240682" y="2578608"/>
            <a:ext cx="45720" cy="1682496"/>
          </a:xfrm>
          <a:prstGeom prst="rect">
            <a:avLst/>
          </a:prstGeom>
          <a:solidFill>
            <a:srgbClr val="138808"/>
          </a:solidFill>
          <a:ln/>
        </p:spPr>
      </p:sp>
      <p:sp>
        <p:nvSpPr>
          <p:cNvPr id="32" name="Text 27"/>
          <p:cNvSpPr/>
          <p:nvPr/>
        </p:nvSpPr>
        <p:spPr>
          <a:xfrm>
            <a:off x="4386986" y="2651760"/>
            <a:ext cx="343601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13880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Economic</a:t>
            </a:r>
            <a:endParaRPr lang="en-US" sz="940" dirty="0"/>
          </a:p>
        </p:txBody>
      </p:sp>
      <p:sp>
        <p:nvSpPr>
          <p:cNvPr id="33" name="Text 28"/>
          <p:cNvSpPr/>
          <p:nvPr/>
        </p:nvSpPr>
        <p:spPr>
          <a:xfrm>
            <a:off x="4386986" y="2871216"/>
            <a:ext cx="343601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400"/>
              </a:spcAft>
              <a:buSzPct val="100000"/>
              <a:buChar char="▪"/>
            </a:pPr>
            <a:r>
              <a:rPr lang="en-US" sz="72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 infrastructure cost to reach the first cohort: free static host plus free database tier.</a:t>
            </a:r>
            <a:endParaRPr lang="en-US" sz="720" dirty="0"/>
          </a:p>
          <a:p>
            <a:pPr marL="342900" indent="-342900">
              <a:lnSpc>
                <a:spcPct val="108000"/>
              </a:lnSpc>
              <a:spcAft>
                <a:spcPts val="400"/>
              </a:spcAft>
              <a:buSzPct val="100000"/>
              <a:buChar char="▪"/>
            </a:pPr>
            <a:r>
              <a:rPr lang="en-US" sz="72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pilot unit is one Ayush college and one placement officer, not a state rollout.</a:t>
            </a:r>
            <a:endParaRPr lang="en-US" sz="720" dirty="0"/>
          </a:p>
          <a:p>
            <a:pPr marL="342900" indent="-342900">
              <a:lnSpc>
                <a:spcPct val="108000"/>
              </a:lnSpc>
              <a:spcAft>
                <a:spcPts val="400"/>
              </a:spcAft>
              <a:buSzPct val="100000"/>
              <a:buChar char="▪"/>
            </a:pPr>
            <a:r>
              <a:rPr lang="en-US" sz="72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Industry shortlisting funds the platform, so students and institutes stay free.</a:t>
            </a:r>
            <a:endParaRPr lang="en-US" sz="720" dirty="0"/>
          </a:p>
        </p:txBody>
      </p:sp>
      <p:sp>
        <p:nvSpPr>
          <p:cNvPr id="34" name="Shape 29"/>
          <p:cNvSpPr/>
          <p:nvPr/>
        </p:nvSpPr>
        <p:spPr>
          <a:xfrm>
            <a:off x="8097317" y="2578608"/>
            <a:ext cx="3710330" cy="1682496"/>
          </a:xfrm>
          <a:prstGeom prst="roundRect">
            <a:avLst>
              <a:gd name="adj" fmla="val 3261"/>
            </a:avLst>
          </a:prstGeom>
          <a:solidFill>
            <a:srgbClr val="FFFFFF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8097317" y="2578608"/>
            <a:ext cx="45720" cy="1682496"/>
          </a:xfrm>
          <a:prstGeom prst="rect">
            <a:avLst/>
          </a:prstGeom>
          <a:solidFill>
            <a:srgbClr val="138808"/>
          </a:solidFill>
          <a:ln/>
        </p:spPr>
      </p:sp>
      <p:sp>
        <p:nvSpPr>
          <p:cNvPr id="36" name="Text 31"/>
          <p:cNvSpPr/>
          <p:nvPr/>
        </p:nvSpPr>
        <p:spPr>
          <a:xfrm>
            <a:off x="8243621" y="2651760"/>
            <a:ext cx="343601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13880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</a:t>
            </a:r>
            <a:endParaRPr lang="en-US" sz="940" dirty="0"/>
          </a:p>
        </p:txBody>
      </p:sp>
      <p:sp>
        <p:nvSpPr>
          <p:cNvPr id="37" name="Text 32"/>
          <p:cNvSpPr/>
          <p:nvPr/>
        </p:nvSpPr>
        <p:spPr>
          <a:xfrm>
            <a:off x="8243621" y="2871216"/>
            <a:ext cx="343601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400"/>
              </a:spcAft>
              <a:buSzPct val="100000"/>
              <a:buChar char="▪"/>
            </a:pPr>
            <a:r>
              <a:rPr lang="en-US" sz="72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Maps onto structures that already exist: the NCISM Shishiksha orientation and the rotatory internship.</a:t>
            </a:r>
            <a:endParaRPr lang="en-US" sz="720" dirty="0"/>
          </a:p>
          <a:p>
            <a:pPr marL="342900" indent="-342900">
              <a:lnSpc>
                <a:spcPct val="108000"/>
              </a:lnSpc>
              <a:spcAft>
                <a:spcPts val="400"/>
              </a:spcAft>
              <a:buSzPct val="100000"/>
              <a:buChar char="▪"/>
            </a:pPr>
            <a:r>
              <a:rPr lang="en-US" sz="72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faculty and industry card links out to the official page. Nothing asks anyone to migrate.</a:t>
            </a:r>
            <a:endParaRPr lang="en-US" sz="720" dirty="0"/>
          </a:p>
          <a:p>
            <a:pPr marL="342900" indent="-342900">
              <a:lnSpc>
                <a:spcPct val="108000"/>
              </a:lnSpc>
              <a:spcAft>
                <a:spcPts val="400"/>
              </a:spcAft>
              <a:buSzPct val="100000"/>
              <a:buChar char="▪"/>
            </a:pPr>
            <a:r>
              <a:rPr lang="en-US" sz="72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institute dashboard is the placement cell's daily surface, not a report.</a:t>
            </a:r>
            <a:endParaRPr lang="en-US" sz="720" dirty="0"/>
          </a:p>
        </p:txBody>
      </p:sp>
      <p:sp>
        <p:nvSpPr>
          <p:cNvPr id="38" name="Text 33"/>
          <p:cNvSpPr/>
          <p:nvPr/>
        </p:nvSpPr>
        <p:spPr>
          <a:xfrm>
            <a:off x="384048" y="4370832"/>
            <a:ext cx="1142359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13880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RISKY ASSUMPTIONS, AND WHAT WE DO ABOUT EACH</a:t>
            </a:r>
            <a:endParaRPr lang="en-US" sz="800" dirty="0"/>
          </a:p>
        </p:txBody>
      </p:sp>
      <p:sp>
        <p:nvSpPr>
          <p:cNvPr id="39" name="Shape 34"/>
          <p:cNvSpPr/>
          <p:nvPr/>
        </p:nvSpPr>
        <p:spPr>
          <a:xfrm>
            <a:off x="384048" y="4572000"/>
            <a:ext cx="11423599" cy="219456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40" name="Text 35"/>
          <p:cNvSpPr/>
          <p:nvPr/>
        </p:nvSpPr>
        <p:spPr>
          <a:xfrm>
            <a:off x="475488" y="4572000"/>
            <a:ext cx="4797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key missing or rate-limited mid-demo</a:t>
            </a:r>
            <a:endParaRPr lang="en-US" sz="720" dirty="0"/>
          </a:p>
        </p:txBody>
      </p:sp>
      <p:sp>
        <p:nvSpPr>
          <p:cNvPr id="41" name="Text 36"/>
          <p:cNvSpPr/>
          <p:nvPr/>
        </p:nvSpPr>
        <p:spPr>
          <a:xfrm>
            <a:off x="5273400" y="4572000"/>
            <a:ext cx="6442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Deterministic path renders identical output. AI is an upgrade, never a dependency.</a:t>
            </a:r>
            <a:endParaRPr lang="en-US" sz="720" dirty="0"/>
          </a:p>
        </p:txBody>
      </p:sp>
      <p:sp>
        <p:nvSpPr>
          <p:cNvPr id="42" name="Text 37"/>
          <p:cNvSpPr/>
          <p:nvPr/>
        </p:nvSpPr>
        <p:spPr>
          <a:xfrm>
            <a:off x="475488" y="4800600"/>
            <a:ext cx="4797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unreachable on venue Wi-Fi</a:t>
            </a:r>
            <a:endParaRPr lang="en-US" sz="720" dirty="0"/>
          </a:p>
        </p:txBody>
      </p:sp>
      <p:sp>
        <p:nvSpPr>
          <p:cNvPr id="43" name="Text 38"/>
          <p:cNvSpPr/>
          <p:nvPr/>
        </p:nvSpPr>
        <p:spPr>
          <a:xfrm>
            <a:off x="5273400" y="4800600"/>
            <a:ext cx="6442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Seeds render, writes queue locally, a banner reports local mode. Nothing blanks.</a:t>
            </a:r>
            <a:endParaRPr lang="en-US" sz="720" dirty="0"/>
          </a:p>
        </p:txBody>
      </p:sp>
      <p:sp>
        <p:nvSpPr>
          <p:cNvPr id="44" name="Shape 39"/>
          <p:cNvSpPr/>
          <p:nvPr/>
        </p:nvSpPr>
        <p:spPr>
          <a:xfrm>
            <a:off x="384048" y="5029200"/>
            <a:ext cx="11423599" cy="219456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45" name="Text 40"/>
          <p:cNvSpPr/>
          <p:nvPr/>
        </p:nvSpPr>
        <p:spPr>
          <a:xfrm>
            <a:off x="475488" y="5029200"/>
            <a:ext cx="4797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Taxonomy drifts from industry reality</a:t>
            </a:r>
            <a:endParaRPr lang="en-US" sz="720" dirty="0"/>
          </a:p>
        </p:txBody>
      </p:sp>
      <p:sp>
        <p:nvSpPr>
          <p:cNvPr id="46" name="Text 41"/>
          <p:cNvSpPr/>
          <p:nvPr/>
        </p:nvSpPr>
        <p:spPr>
          <a:xfrm>
            <a:off x="5273400" y="5029200"/>
            <a:ext cx="6442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taxonomy is data, not code. New sectors and skills are rows, not a release.</a:t>
            </a:r>
            <a:endParaRPr lang="en-US" sz="720" dirty="0"/>
          </a:p>
        </p:txBody>
      </p:sp>
      <p:sp>
        <p:nvSpPr>
          <p:cNvPr id="47" name="Text 42"/>
          <p:cNvSpPr/>
          <p:nvPr/>
        </p:nvSpPr>
        <p:spPr>
          <a:xfrm>
            <a:off x="475488" y="5257800"/>
            <a:ext cx="4797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Adoption by people who did not ask for this</a:t>
            </a:r>
            <a:endParaRPr lang="en-US" sz="720" dirty="0"/>
          </a:p>
        </p:txBody>
      </p:sp>
      <p:sp>
        <p:nvSpPr>
          <p:cNvPr id="48" name="Text 43"/>
          <p:cNvSpPr/>
          <p:nvPr/>
        </p:nvSpPr>
        <p:spPr>
          <a:xfrm>
            <a:off x="5273400" y="5257800"/>
            <a:ext cx="6442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Faculty and industry boards route intent out to official pages instead of demanding migration.</a:t>
            </a:r>
            <a:endParaRPr lang="en-US" sz="720" dirty="0"/>
          </a:p>
        </p:txBody>
      </p:sp>
      <p:sp>
        <p:nvSpPr>
          <p:cNvPr id="49" name="Text 44"/>
          <p:cNvSpPr/>
          <p:nvPr/>
        </p:nvSpPr>
        <p:spPr>
          <a:xfrm>
            <a:off x="384048" y="5541264"/>
            <a:ext cx="114235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Honest scope: real authentication and row-level security, an in-app resume builder, chat, payments and job scraping are post-SIH. A device ID is the login stand-in today, and this deck says so rather than implying otherwise.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ityscape silhouette: students, colleges, hospitals, offices and a growth chart, representing the academia and industry the portal connec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116527"/>
            <a:ext cx="12191695" cy="2576881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693408"/>
            <a:ext cx="12191695" cy="82296"/>
          </a:xfrm>
          <a:prstGeom prst="rect">
            <a:avLst/>
          </a:prstGeom>
          <a:solidFill>
            <a:srgbClr val="0B2A4A"/>
          </a:solidFill>
          <a:ln/>
        </p:spPr>
      </p:sp>
      <p:pic>
        <p:nvPicPr>
          <p:cNvPr id="4" name="Image 1" descr="Team Zencoderss wordmar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73736"/>
            <a:ext cx="1876349" cy="43434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4111600" y="137160"/>
            <a:ext cx="3968496" cy="530352"/>
          </a:xfrm>
          <a:prstGeom prst="roundRect">
            <a:avLst>
              <a:gd name="adj" fmla="val 86207"/>
            </a:avLst>
          </a:prstGeom>
          <a:solidFill>
            <a:srgbClr val="0B2A4A"/>
          </a:solidFill>
          <a:ln/>
        </p:spPr>
      </p:sp>
      <p:sp>
        <p:nvSpPr>
          <p:cNvPr id="6" name="Text 2"/>
          <p:cNvSpPr/>
          <p:nvPr/>
        </p:nvSpPr>
        <p:spPr>
          <a:xfrm>
            <a:off x="4111600" y="137160"/>
            <a:ext cx="39684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spc="1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 AND BENEFITS</a:t>
            </a:r>
            <a:endParaRPr lang="en-US" sz="1700" dirty="0"/>
          </a:p>
        </p:txBody>
      </p:sp>
      <p:sp>
        <p:nvSpPr>
          <p:cNvPr id="7" name="Text 3"/>
          <p:cNvSpPr/>
          <p:nvPr/>
        </p:nvSpPr>
        <p:spPr>
          <a:xfrm>
            <a:off x="10506456" y="192024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0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INDIA HACKATHON</a:t>
            </a:r>
            <a:endParaRPr lang="en-US" sz="900" dirty="0"/>
          </a:p>
          <a:p>
            <a:pPr algn="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0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</a:t>
            </a:r>
            <a:endParaRPr lang="en-US" sz="900" dirty="0"/>
          </a:p>
        </p:txBody>
      </p:sp>
      <p:pic>
        <p:nvPicPr>
          <p:cNvPr id="8" name="Image 2" descr="Smart India Hackathon 2026 official log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9069" y="155448"/>
            <a:ext cx="504235" cy="566928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384048" y="932688"/>
            <a:ext cx="2759888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384048" y="932688"/>
            <a:ext cx="41148" cy="731520"/>
          </a:xfrm>
          <a:prstGeom prst="rect">
            <a:avLst/>
          </a:prstGeom>
          <a:solidFill>
            <a:srgbClr val="0B2A4A"/>
          </a:solidFill>
          <a:ln/>
        </p:spPr>
      </p:sp>
      <p:sp>
        <p:nvSpPr>
          <p:cNvPr id="11" name="Text 6"/>
          <p:cNvSpPr/>
          <p:nvPr/>
        </p:nvSpPr>
        <p:spPr>
          <a:xfrm>
            <a:off x="530352" y="969264"/>
            <a:ext cx="2522144" cy="387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62</a:t>
            </a:r>
            <a:endParaRPr lang="en-US" sz="3400" dirty="0"/>
          </a:p>
        </p:txBody>
      </p:sp>
      <p:sp>
        <p:nvSpPr>
          <p:cNvPr id="12" name="Text 7"/>
          <p:cNvSpPr/>
          <p:nvPr/>
        </p:nvSpPr>
        <p:spPr>
          <a:xfrm>
            <a:off x="530352" y="1371600"/>
            <a:ext cx="2522144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skills across 8 domains, Ayush included</a:t>
            </a:r>
            <a:endParaRPr lang="en-US" sz="900" dirty="0"/>
          </a:p>
        </p:txBody>
      </p:sp>
      <p:sp>
        <p:nvSpPr>
          <p:cNvPr id="13" name="Shape 8"/>
          <p:cNvSpPr/>
          <p:nvPr/>
        </p:nvSpPr>
        <p:spPr>
          <a:xfrm>
            <a:off x="3271952" y="932688"/>
            <a:ext cx="2759888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3271952" y="932688"/>
            <a:ext cx="41148" cy="731520"/>
          </a:xfrm>
          <a:prstGeom prst="rect">
            <a:avLst/>
          </a:prstGeom>
          <a:solidFill>
            <a:srgbClr val="0B2A4A"/>
          </a:solidFill>
          <a:ln/>
        </p:spPr>
      </p:sp>
      <p:sp>
        <p:nvSpPr>
          <p:cNvPr id="15" name="Text 10"/>
          <p:cNvSpPr/>
          <p:nvPr/>
        </p:nvSpPr>
        <p:spPr>
          <a:xfrm>
            <a:off x="3418256" y="969264"/>
            <a:ext cx="2522144" cy="387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3400" dirty="0"/>
          </a:p>
        </p:txBody>
      </p:sp>
      <p:sp>
        <p:nvSpPr>
          <p:cNvPr id="16" name="Text 11"/>
          <p:cNvSpPr/>
          <p:nvPr/>
        </p:nvSpPr>
        <p:spPr>
          <a:xfrm>
            <a:off x="3418256" y="1371600"/>
            <a:ext cx="2522144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weighted dimensions behind every score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6159856" y="932688"/>
            <a:ext cx="2759888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159856" y="932688"/>
            <a:ext cx="41148" cy="731520"/>
          </a:xfrm>
          <a:prstGeom prst="rect">
            <a:avLst/>
          </a:prstGeom>
          <a:solidFill>
            <a:srgbClr val="0B2A4A"/>
          </a:solidFill>
          <a:ln/>
        </p:spPr>
      </p:sp>
      <p:sp>
        <p:nvSpPr>
          <p:cNvPr id="19" name="Text 14"/>
          <p:cNvSpPr/>
          <p:nvPr/>
        </p:nvSpPr>
        <p:spPr>
          <a:xfrm>
            <a:off x="6306160" y="969264"/>
            <a:ext cx="2522144" cy="387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3400" dirty="0"/>
          </a:p>
        </p:txBody>
      </p:sp>
      <p:sp>
        <p:nvSpPr>
          <p:cNvPr id="20" name="Text 15"/>
          <p:cNvSpPr/>
          <p:nvPr/>
        </p:nvSpPr>
        <p:spPr>
          <a:xfrm>
            <a:off x="6306160" y="1371600"/>
            <a:ext cx="2522144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portals running on one skill engine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9047759" y="932688"/>
            <a:ext cx="2759888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9047759" y="932688"/>
            <a:ext cx="41148" cy="731520"/>
          </a:xfrm>
          <a:prstGeom prst="rect">
            <a:avLst/>
          </a:prstGeom>
          <a:solidFill>
            <a:srgbClr val="0B2A4A"/>
          </a:solidFill>
          <a:ln/>
        </p:spPr>
      </p:sp>
      <p:sp>
        <p:nvSpPr>
          <p:cNvPr id="23" name="Text 18"/>
          <p:cNvSpPr/>
          <p:nvPr/>
        </p:nvSpPr>
        <p:spPr>
          <a:xfrm>
            <a:off x="9194063" y="969264"/>
            <a:ext cx="2522144" cy="387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</a:t>
            </a:r>
            <a:endParaRPr lang="en-US" sz="3400" dirty="0"/>
          </a:p>
        </p:txBody>
      </p:sp>
      <p:sp>
        <p:nvSpPr>
          <p:cNvPr id="24" name="Text 19"/>
          <p:cNvSpPr/>
          <p:nvPr/>
        </p:nvSpPr>
        <p:spPr>
          <a:xfrm>
            <a:off x="9194063" y="1371600"/>
            <a:ext cx="2522144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Ayush roles live in the feed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384048" y="1755648"/>
            <a:ext cx="1142359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0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BENEFITS, AND WHAT ACTUALLY CHANGES</a:t>
            </a:r>
            <a:endParaRPr lang="en-US" sz="800" dirty="0"/>
          </a:p>
        </p:txBody>
      </p:sp>
      <p:sp>
        <p:nvSpPr>
          <p:cNvPr id="26" name="Shape 21"/>
          <p:cNvSpPr/>
          <p:nvPr/>
        </p:nvSpPr>
        <p:spPr>
          <a:xfrm>
            <a:off x="384048" y="1956816"/>
            <a:ext cx="672084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512064" y="1956816"/>
            <a:ext cx="1517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0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Students</a:t>
            </a:r>
            <a:endParaRPr lang="en-US" sz="840" dirty="0"/>
          </a:p>
        </p:txBody>
      </p:sp>
      <p:sp>
        <p:nvSpPr>
          <p:cNvPr id="28" name="Text 23"/>
          <p:cNvSpPr/>
          <p:nvPr/>
        </p:nvSpPr>
        <p:spPr>
          <a:xfrm>
            <a:off x="2084832" y="1956816"/>
            <a:ext cx="4892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72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readiness number that traces to actual resume lines. Each dimension shows points earned out of points available, so the next action is never a guess.</a:t>
            </a:r>
            <a:endParaRPr lang="en-US" sz="720" dirty="0"/>
          </a:p>
        </p:txBody>
      </p:sp>
      <p:sp>
        <p:nvSpPr>
          <p:cNvPr id="29" name="Shape 24"/>
          <p:cNvSpPr/>
          <p:nvPr/>
        </p:nvSpPr>
        <p:spPr>
          <a:xfrm>
            <a:off x="384048" y="2432304"/>
            <a:ext cx="6720840" cy="438912"/>
          </a:xfrm>
          <a:prstGeom prst="roundRect">
            <a:avLst>
              <a:gd name="adj" fmla="val 12500"/>
            </a:avLst>
          </a:prstGeom>
          <a:solidFill>
            <a:srgbClr val="F7F8FA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512064" y="2432304"/>
            <a:ext cx="1517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0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Industry and hospitals</a:t>
            </a:r>
            <a:endParaRPr lang="en-US" sz="840" dirty="0"/>
          </a:p>
        </p:txBody>
      </p:sp>
      <p:sp>
        <p:nvSpPr>
          <p:cNvPr id="31" name="Text 26"/>
          <p:cNvSpPr/>
          <p:nvPr/>
        </p:nvSpPr>
        <p:spPr>
          <a:xfrm>
            <a:off x="2084832" y="2432304"/>
            <a:ext cx="4892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72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Publish a role with a minimum readiness bar and receive a ranked, explainable shortlist instead of an inbox of PDFs.</a:t>
            </a:r>
            <a:endParaRPr lang="en-US" sz="720" dirty="0"/>
          </a:p>
        </p:txBody>
      </p:sp>
      <p:sp>
        <p:nvSpPr>
          <p:cNvPr id="32" name="Shape 27"/>
          <p:cNvSpPr/>
          <p:nvPr/>
        </p:nvSpPr>
        <p:spPr>
          <a:xfrm>
            <a:off x="384048" y="2907792"/>
            <a:ext cx="672084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512064" y="2907792"/>
            <a:ext cx="1517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0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Academicians</a:t>
            </a:r>
            <a:endParaRPr lang="en-US" sz="840" dirty="0"/>
          </a:p>
        </p:txBody>
      </p:sp>
      <p:sp>
        <p:nvSpPr>
          <p:cNvPr id="34" name="Text 29"/>
          <p:cNvSpPr/>
          <p:nvPr/>
        </p:nvSpPr>
        <p:spPr>
          <a:xfrm>
            <a:off x="2084832" y="2907792"/>
            <a:ext cx="4892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72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Faculty internships, FDPs, consultancy and research on one board, each linking to the official application page.</a:t>
            </a:r>
            <a:endParaRPr lang="en-US" sz="720" dirty="0"/>
          </a:p>
        </p:txBody>
      </p:sp>
      <p:sp>
        <p:nvSpPr>
          <p:cNvPr id="35" name="Shape 30"/>
          <p:cNvSpPr/>
          <p:nvPr/>
        </p:nvSpPr>
        <p:spPr>
          <a:xfrm>
            <a:off x="384048" y="3383280"/>
            <a:ext cx="6720840" cy="438912"/>
          </a:xfrm>
          <a:prstGeom prst="roundRect">
            <a:avLst>
              <a:gd name="adj" fmla="val 12500"/>
            </a:avLst>
          </a:prstGeom>
          <a:solidFill>
            <a:srgbClr val="F7F8FA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512064" y="3383280"/>
            <a:ext cx="1517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0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Institutions and policymakers</a:t>
            </a:r>
            <a:endParaRPr lang="en-US" sz="840" dirty="0"/>
          </a:p>
        </p:txBody>
      </p:sp>
      <p:sp>
        <p:nvSpPr>
          <p:cNvPr id="37" name="Text 32"/>
          <p:cNvSpPr/>
          <p:nvPr/>
        </p:nvSpPr>
        <p:spPr>
          <a:xfrm>
            <a:off x="2084832" y="3383280"/>
            <a:ext cx="4892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72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Cohort bands, share scoring Gold or better, the most common gaps, and a live demand-versus-supply view for the placement cell.</a:t>
            </a:r>
            <a:endParaRPr lang="en-US" sz="720" dirty="0"/>
          </a:p>
        </p:txBody>
      </p:sp>
      <p:sp>
        <p:nvSpPr>
          <p:cNvPr id="38" name="Shape 33"/>
          <p:cNvSpPr/>
          <p:nvPr/>
        </p:nvSpPr>
        <p:spPr>
          <a:xfrm>
            <a:off x="7324344" y="1956816"/>
            <a:ext cx="4483303" cy="169164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9525">
            <a:solidFill>
              <a:srgbClr val="E3E7EC"/>
            </a:solidFill>
            <a:prstDash val="solid"/>
          </a:ln>
        </p:spPr>
      </p:sp>
      <p:pic>
        <p:nvPicPr>
          <p:cNvPr id="39" name="Image 3" descr="Application screenshot: institute dashboard with cohort bands and live demand versus cohort supply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351776" y="1984248"/>
            <a:ext cx="4428439" cy="1636776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7324344" y="3675888"/>
            <a:ext cx="448330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Institute view: cohort bands and live demand versus supply</a:t>
            </a:r>
            <a:endParaRPr lang="en-US" sz="660" dirty="0"/>
          </a:p>
        </p:txBody>
      </p:sp>
      <p:sp>
        <p:nvSpPr>
          <p:cNvPr id="41" name="Shape 35"/>
          <p:cNvSpPr/>
          <p:nvPr/>
        </p:nvSpPr>
        <p:spPr>
          <a:xfrm>
            <a:off x="7324344" y="3950208"/>
            <a:ext cx="4483303" cy="169164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9525">
            <a:solidFill>
              <a:srgbClr val="E3E7EC"/>
            </a:solidFill>
            <a:prstDash val="solid"/>
          </a:ln>
        </p:spPr>
      </p:sp>
      <p:pic>
        <p:nvPicPr>
          <p:cNvPr id="42" name="Image 4" descr="Application screenshot: student digital portfolio with verified versus claimed skills and a QR credential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351776" y="3977640"/>
            <a:ext cx="4428439" cy="1636776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7324344" y="5669280"/>
            <a:ext cx="448330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Portfolio: verified skills sign a QR-verifiable public credential</a:t>
            </a:r>
            <a:endParaRPr lang="en-US" sz="660" dirty="0"/>
          </a:p>
        </p:txBody>
      </p:sp>
      <p:sp>
        <p:nvSpPr>
          <p:cNvPr id="44" name="Text 37"/>
          <p:cNvSpPr/>
          <p:nvPr/>
        </p:nvSpPr>
        <p:spPr>
          <a:xfrm>
            <a:off x="384048" y="4023360"/>
            <a:ext cx="6720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0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ALIGNMENT AND EVIDENCE BASE</a:t>
            </a:r>
            <a:endParaRPr lang="en-US" sz="800" dirty="0"/>
          </a:p>
        </p:txBody>
      </p:sp>
      <p:sp>
        <p:nvSpPr>
          <p:cNvPr id="45" name="Text 38"/>
          <p:cNvSpPr/>
          <p:nvPr/>
        </p:nvSpPr>
        <p:spPr>
          <a:xfrm>
            <a:off x="384048" y="4224528"/>
            <a:ext cx="6720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76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Alignment: NEP 2020 industry-linked learning, and skill levels mappable to NCrF so a completed internship can translate into academic credit. Sector framing follows the Ministry of Ayush statement this idea answers.</a:t>
            </a:r>
            <a:endParaRPr lang="en-US" sz="760" dirty="0"/>
          </a:p>
        </p:txBody>
      </p:sp>
      <p:sp>
        <p:nvSpPr>
          <p:cNvPr id="46" name="Text 39"/>
          <p:cNvSpPr/>
          <p:nvPr/>
        </p:nvSpPr>
        <p:spPr>
          <a:xfrm>
            <a:off x="384048" y="4663440"/>
            <a:ext cx="6720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400"/>
              </a:spcAft>
              <a:buSzPct val="100000"/>
              <a:buChar char="▪"/>
            </a:pPr>
            <a:r>
              <a:rPr lang="en-US" sz="72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85% of employers now use skills-based hiring and 76% use skills tests (TestGorilla, 2025).</a:t>
            </a:r>
            <a:endParaRPr lang="en-US" sz="720" dirty="0"/>
          </a:p>
          <a:p>
            <a:pPr marL="342900" indent="-342900">
              <a:lnSpc>
                <a:spcPct val="112000"/>
              </a:lnSpc>
              <a:spcAft>
                <a:spcPts val="400"/>
              </a:spcAft>
              <a:buSzPct val="100000"/>
              <a:buChar char="▪"/>
            </a:pPr>
            <a:r>
              <a:rPr lang="en-US" sz="72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Entry-level hiring growth has flattened to +7% against +19% for senior roles (HackerRank, 2025).</a:t>
            </a:r>
            <a:endParaRPr lang="en-US" sz="720" dirty="0"/>
          </a:p>
          <a:p>
            <a:pPr marL="342900" indent="-342900">
              <a:lnSpc>
                <a:spcPct val="112000"/>
              </a:lnSpc>
              <a:spcAft>
                <a:spcPts val="400"/>
              </a:spcAft>
              <a:buSzPct val="100000"/>
              <a:buChar char="▪"/>
            </a:pPr>
            <a:r>
              <a:rPr lang="en-US" sz="72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India graduates roughly 1.5 crore students a year into a market that cannot yet read their skills.</a:t>
            </a:r>
            <a:endParaRPr lang="en-US" sz="7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ityscape silhouette: students, colleges, hospitals, offices and a growth chart, representing the academia and industry the portal connec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116527"/>
            <a:ext cx="12191695" cy="2576881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693408"/>
            <a:ext cx="12191695" cy="82296"/>
          </a:xfrm>
          <a:prstGeom prst="rect">
            <a:avLst/>
          </a:prstGeom>
          <a:solidFill>
            <a:srgbClr val="0B2A4A"/>
          </a:solidFill>
          <a:ln/>
        </p:spPr>
      </p:sp>
      <p:pic>
        <p:nvPicPr>
          <p:cNvPr id="4" name="Image 1" descr="Team Zencoderss wordmar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73736"/>
            <a:ext cx="1876349" cy="43434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3992728" y="137160"/>
            <a:ext cx="4206240" cy="530352"/>
          </a:xfrm>
          <a:prstGeom prst="roundRect">
            <a:avLst>
              <a:gd name="adj" fmla="val 86207"/>
            </a:avLst>
          </a:prstGeom>
          <a:solidFill>
            <a:srgbClr val="0B2A4A"/>
          </a:solidFill>
          <a:ln/>
        </p:spPr>
      </p:sp>
      <p:sp>
        <p:nvSpPr>
          <p:cNvPr id="6" name="Text 2"/>
          <p:cNvSpPr/>
          <p:nvPr/>
        </p:nvSpPr>
        <p:spPr>
          <a:xfrm>
            <a:off x="3992728" y="137160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spc="1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RESEARCH AND REFERENCES</a:t>
            </a:r>
            <a:endParaRPr lang="en-US" sz="1700" dirty="0"/>
          </a:p>
        </p:txBody>
      </p:sp>
      <p:sp>
        <p:nvSpPr>
          <p:cNvPr id="7" name="Text 3"/>
          <p:cNvSpPr/>
          <p:nvPr/>
        </p:nvSpPr>
        <p:spPr>
          <a:xfrm>
            <a:off x="10506456" y="192024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0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INDIA HACKATHON</a:t>
            </a:r>
            <a:endParaRPr lang="en-US" sz="900" dirty="0"/>
          </a:p>
          <a:p>
            <a:pPr algn="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0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</a:t>
            </a:r>
            <a:endParaRPr lang="en-US" sz="900" dirty="0"/>
          </a:p>
        </p:txBody>
      </p:sp>
      <p:pic>
        <p:nvPicPr>
          <p:cNvPr id="8" name="Image 2" descr="Smart India Hackathon 2026 official log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9069" y="155448"/>
            <a:ext cx="504235" cy="56692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84048" y="93268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0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WE COMPARE WITH EXISTING SYSTEMS</a:t>
            </a:r>
            <a:endParaRPr lang="en-US" sz="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1133856"/>
          <a:ext cx="6858000" cy="914400"/>
        </p:xfrm>
        <a:graphic>
          <a:graphicData uri="http://schemas.openxmlformats.org/drawingml/2006/table">
            <a:tbl>
              <a:tblPr/>
              <a:tblGrid>
                <a:gridCol w="2615184"/>
                <a:gridCol w="914400"/>
                <a:gridCol w="859536"/>
                <a:gridCol w="694944"/>
                <a:gridCol w="914400"/>
                <a:gridCol w="859536"/>
              </a:tblGrid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8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Capability</a:t>
                      </a:r>
                      <a:endParaRPr lang="en-US" sz="6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Avsar</a:t>
                      </a:r>
                      <a:endParaRPr lang="en-US" sz="6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LinkedIn</a:t>
                      </a:r>
                      <a:endParaRPr lang="en-US" sz="6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NCS</a:t>
                      </a:r>
                      <a:endParaRPr lang="en-US" sz="6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Internshala</a:t>
                      </a:r>
                      <a:endParaRPr lang="en-US" sz="6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HackerRank</a:t>
                      </a:r>
                      <a:endParaRPr lang="en-US" sz="6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80" b="1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Diagnoses the skill gap for a target role</a:t>
                      </a:r>
                      <a:endParaRPr lang="en-US" sz="6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40" b="1" dirty="0">
                          <a:solidFill>
                            <a:srgbClr val="13880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YES</a:t>
                      </a:r>
                      <a:endParaRPr lang="en-US" sz="64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40" dirty="0">
                          <a:solidFill>
                            <a:srgbClr val="8A93A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64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40" dirty="0">
                          <a:solidFill>
                            <a:srgbClr val="8A93A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64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40" dirty="0">
                          <a:solidFill>
                            <a:srgbClr val="8A93A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64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40" dirty="0">
                          <a:solidFill>
                            <a:srgbClr val="8A93A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64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80" b="1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Closes the gap free, with a proof-linked project</a:t>
                      </a:r>
                      <a:endParaRPr lang="en-US" sz="6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40" b="1" dirty="0">
                          <a:solidFill>
                            <a:srgbClr val="13880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YES</a:t>
                      </a:r>
                      <a:endParaRPr lang="en-US" sz="64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40" dirty="0">
                          <a:solidFill>
                            <a:srgbClr val="8A93A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64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40" dirty="0">
                          <a:solidFill>
                            <a:srgbClr val="8A93A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64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40" dirty="0">
                          <a:solidFill>
                            <a:srgbClr val="8A93A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64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40" dirty="0">
                          <a:solidFill>
                            <a:srgbClr val="8A93A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64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80" b="1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Separates verified skill from self-claimed</a:t>
                      </a:r>
                      <a:endParaRPr lang="en-US" sz="6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40" b="1" dirty="0">
                          <a:solidFill>
                            <a:srgbClr val="13880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YES</a:t>
                      </a:r>
                      <a:endParaRPr lang="en-US" sz="64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40" dirty="0">
                          <a:solidFill>
                            <a:srgbClr val="8A93A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64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40" dirty="0">
                          <a:solidFill>
                            <a:srgbClr val="8A93A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64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40" dirty="0">
                          <a:solidFill>
                            <a:srgbClr val="8A93A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64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40" dirty="0">
                          <a:solidFill>
                            <a:srgbClr val="FF7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PART</a:t>
                      </a:r>
                      <a:endParaRPr lang="en-US" sz="64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80" b="1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Gates a role on a published readiness bar</a:t>
                      </a:r>
                      <a:endParaRPr lang="en-US" sz="6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40" b="1" dirty="0">
                          <a:solidFill>
                            <a:srgbClr val="13880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YES</a:t>
                      </a:r>
                      <a:endParaRPr lang="en-US" sz="64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40" dirty="0">
                          <a:solidFill>
                            <a:srgbClr val="8A93A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64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40" dirty="0">
                          <a:solidFill>
                            <a:srgbClr val="8A93A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64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40" dirty="0">
                          <a:solidFill>
                            <a:srgbClr val="8A93A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64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40" dirty="0">
                          <a:solidFill>
                            <a:srgbClr val="FF7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PART</a:t>
                      </a:r>
                      <a:endParaRPr lang="en-US" sz="64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80" b="1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Faculty portal: FDP, consultancy, research</a:t>
                      </a:r>
                      <a:endParaRPr lang="en-US" sz="6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40" b="1" dirty="0">
                          <a:solidFill>
                            <a:srgbClr val="13880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YES</a:t>
                      </a:r>
                      <a:endParaRPr lang="en-US" sz="64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40" dirty="0">
                          <a:solidFill>
                            <a:srgbClr val="8A93A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64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40" dirty="0">
                          <a:solidFill>
                            <a:srgbClr val="FF7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PART</a:t>
                      </a:r>
                      <a:endParaRPr lang="en-US" sz="64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40" dirty="0">
                          <a:solidFill>
                            <a:srgbClr val="8A93A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64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40" dirty="0">
                          <a:solidFill>
                            <a:srgbClr val="8A93A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64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80" b="1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Institute cohort analytics and gap heatmap</a:t>
                      </a:r>
                      <a:endParaRPr lang="en-US" sz="6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40" b="1" dirty="0">
                          <a:solidFill>
                            <a:srgbClr val="13880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YES</a:t>
                      </a:r>
                      <a:endParaRPr lang="en-US" sz="64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40" dirty="0">
                          <a:solidFill>
                            <a:srgbClr val="FF7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PART</a:t>
                      </a:r>
                      <a:endParaRPr lang="en-US" sz="64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40" dirty="0">
                          <a:solidFill>
                            <a:srgbClr val="8A93A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64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40" dirty="0">
                          <a:solidFill>
                            <a:srgbClr val="8A93A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64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40" dirty="0">
                          <a:solidFill>
                            <a:srgbClr val="FF7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PART</a:t>
                      </a:r>
                      <a:endParaRPr lang="en-US" sz="64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80" b="1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Built for Ayush / Indian System of Medicine</a:t>
                      </a:r>
                      <a:endParaRPr lang="en-US" sz="6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40" b="1" dirty="0">
                          <a:solidFill>
                            <a:srgbClr val="13880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YES</a:t>
                      </a:r>
                      <a:endParaRPr lang="en-US" sz="64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40" dirty="0">
                          <a:solidFill>
                            <a:srgbClr val="8A93A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64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40" dirty="0">
                          <a:solidFill>
                            <a:srgbClr val="8A93A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64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40" dirty="0">
                          <a:solidFill>
                            <a:srgbClr val="8A93A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64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40" dirty="0">
                          <a:solidFill>
                            <a:srgbClr val="8A93A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64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11" name="Text 5"/>
          <p:cNvSpPr/>
          <p:nvPr/>
        </p:nvSpPr>
        <p:spPr>
          <a:xfrm>
            <a:off x="384048" y="336499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74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They match on resumes and keywords. We match on a verified proficiency graph and then close the loop: assess, learn, prove, get placed. NCS has no gap engine; Internshala has no verification or faculty portal.</a:t>
            </a:r>
            <a:endParaRPr lang="en-US" sz="740" dirty="0"/>
          </a:p>
        </p:txBody>
      </p:sp>
      <p:sp>
        <p:nvSpPr>
          <p:cNvPr id="12" name="Text 6"/>
          <p:cNvSpPr/>
          <p:nvPr/>
        </p:nvSpPr>
        <p:spPr>
          <a:xfrm>
            <a:off x="384048" y="400507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0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WE ARE</a:t>
            </a:r>
            <a:endParaRPr lang="en-US" sz="800" dirty="0"/>
          </a:p>
        </p:txBody>
      </p:sp>
      <p:sp>
        <p:nvSpPr>
          <p:cNvPr id="13" name="Shape 7"/>
          <p:cNvSpPr/>
          <p:nvPr/>
        </p:nvSpPr>
        <p:spPr>
          <a:xfrm>
            <a:off x="384048" y="4206240"/>
            <a:ext cx="1283818" cy="457200"/>
          </a:xfrm>
          <a:prstGeom prst="roundRect">
            <a:avLst>
              <a:gd name="adj" fmla="val 12000"/>
            </a:avLst>
          </a:prstGeom>
          <a:solidFill>
            <a:srgbClr val="E9F5E9"/>
          </a:solidFill>
          <a:ln w="9525">
            <a:solidFill>
              <a:srgbClr val="138808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457200" y="4206240"/>
            <a:ext cx="11375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13880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OK  </a:t>
            </a:r>
            <a:pPr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 statement</a:t>
            </a:r>
            <a:pPr indent="0" marL="0">
              <a:lnSpc>
                <a:spcPct val="110000"/>
              </a:lnSpc>
              <a:buNone/>
            </a:pPr>
            <a:endParaRPr lang="en-US" sz="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66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understood</a:t>
            </a:r>
            <a:endParaRPr lang="en-US" sz="700" dirty="0"/>
          </a:p>
        </p:txBody>
      </p:sp>
      <p:sp>
        <p:nvSpPr>
          <p:cNvPr id="15" name="Shape 9"/>
          <p:cNvSpPr/>
          <p:nvPr/>
        </p:nvSpPr>
        <p:spPr>
          <a:xfrm>
            <a:off x="1667866" y="4434840"/>
            <a:ext cx="109728" cy="0"/>
          </a:xfrm>
          <a:prstGeom prst="line">
            <a:avLst/>
          </a:prstGeom>
          <a:noFill/>
          <a:ln w="12700">
            <a:solidFill>
              <a:srgbClr val="0B2A4A"/>
            </a:solidFill>
            <a:prstDash val="solid"/>
            <a:tailEnd type="triangle"/>
          </a:ln>
        </p:spPr>
      </p:sp>
      <p:sp>
        <p:nvSpPr>
          <p:cNvPr id="16" name="Shape 10"/>
          <p:cNvSpPr/>
          <p:nvPr/>
        </p:nvSpPr>
        <p:spPr>
          <a:xfrm>
            <a:off x="1777594" y="4206240"/>
            <a:ext cx="1283818" cy="457200"/>
          </a:xfrm>
          <a:prstGeom prst="roundRect">
            <a:avLst>
              <a:gd name="adj" fmla="val 12000"/>
            </a:avLst>
          </a:prstGeom>
          <a:solidFill>
            <a:srgbClr val="E9F5E9"/>
          </a:solidFill>
          <a:ln w="9525">
            <a:solidFill>
              <a:srgbClr val="138808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1850746" y="4206240"/>
            <a:ext cx="11375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13880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OK  </a:t>
            </a:r>
            <a:pPr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Requirement</a:t>
            </a:r>
            <a:pPr indent="0" marL="0">
              <a:lnSpc>
                <a:spcPct val="110000"/>
              </a:lnSpc>
              <a:buNone/>
            </a:pPr>
            <a:endParaRPr lang="en-US" sz="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66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analysis done</a:t>
            </a:r>
            <a:endParaRPr lang="en-US" sz="700" dirty="0"/>
          </a:p>
        </p:txBody>
      </p:sp>
      <p:sp>
        <p:nvSpPr>
          <p:cNvPr id="18" name="Shape 12"/>
          <p:cNvSpPr/>
          <p:nvPr/>
        </p:nvSpPr>
        <p:spPr>
          <a:xfrm>
            <a:off x="3061411" y="4434840"/>
            <a:ext cx="109728" cy="0"/>
          </a:xfrm>
          <a:prstGeom prst="line">
            <a:avLst/>
          </a:prstGeom>
          <a:noFill/>
          <a:ln w="12700">
            <a:solidFill>
              <a:srgbClr val="0B2A4A"/>
            </a:solidFill>
            <a:prstDash val="solid"/>
            <a:tailEnd type="triangle"/>
          </a:ln>
        </p:spPr>
      </p:sp>
      <p:sp>
        <p:nvSpPr>
          <p:cNvPr id="19" name="Shape 13"/>
          <p:cNvSpPr/>
          <p:nvPr/>
        </p:nvSpPr>
        <p:spPr>
          <a:xfrm>
            <a:off x="3171139" y="4206240"/>
            <a:ext cx="1283818" cy="457200"/>
          </a:xfrm>
          <a:prstGeom prst="roundRect">
            <a:avLst>
              <a:gd name="adj" fmla="val 12000"/>
            </a:avLst>
          </a:prstGeom>
          <a:solidFill>
            <a:srgbClr val="E9F5E9"/>
          </a:solidFill>
          <a:ln w="9525">
            <a:solidFill>
              <a:srgbClr val="138808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3244291" y="4206240"/>
            <a:ext cx="11375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13880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OK  </a:t>
            </a:r>
            <a:pPr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Existing vs proposed</a:t>
            </a:r>
            <a:pPr indent="0" marL="0">
              <a:lnSpc>
                <a:spcPct val="110000"/>
              </a:lnSpc>
              <a:buNone/>
            </a:pPr>
            <a:endParaRPr lang="en-US" sz="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66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studied</a:t>
            </a:r>
            <a:endParaRPr lang="en-US" sz="700" dirty="0"/>
          </a:p>
        </p:txBody>
      </p:sp>
      <p:sp>
        <p:nvSpPr>
          <p:cNvPr id="21" name="Shape 15"/>
          <p:cNvSpPr/>
          <p:nvPr/>
        </p:nvSpPr>
        <p:spPr>
          <a:xfrm>
            <a:off x="4454957" y="4434840"/>
            <a:ext cx="109728" cy="0"/>
          </a:xfrm>
          <a:prstGeom prst="line">
            <a:avLst/>
          </a:prstGeom>
          <a:noFill/>
          <a:ln w="12700">
            <a:solidFill>
              <a:srgbClr val="0B2A4A"/>
            </a:solidFill>
            <a:prstDash val="solid"/>
            <a:tailEnd type="triangle"/>
          </a:ln>
        </p:spPr>
      </p:sp>
      <p:sp>
        <p:nvSpPr>
          <p:cNvPr id="22" name="Shape 16"/>
          <p:cNvSpPr/>
          <p:nvPr/>
        </p:nvSpPr>
        <p:spPr>
          <a:xfrm>
            <a:off x="4564685" y="4206240"/>
            <a:ext cx="1283818" cy="457200"/>
          </a:xfrm>
          <a:prstGeom prst="roundRect">
            <a:avLst>
              <a:gd name="adj" fmla="val 12000"/>
            </a:avLst>
          </a:prstGeom>
          <a:solidFill>
            <a:srgbClr val="E9F5E9"/>
          </a:solidFill>
          <a:ln w="9525">
            <a:solidFill>
              <a:srgbClr val="138808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4637837" y="4206240"/>
            <a:ext cx="11375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13880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OK  </a:t>
            </a:r>
            <a:pPr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 deck</a:t>
            </a:r>
            <a:pPr indent="0" marL="0">
              <a:lnSpc>
                <a:spcPct val="110000"/>
              </a:lnSpc>
              <a:buNone/>
            </a:pPr>
            <a:endParaRPr lang="en-US" sz="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66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prepared</a:t>
            </a:r>
            <a:endParaRPr lang="en-US" sz="700" dirty="0"/>
          </a:p>
        </p:txBody>
      </p:sp>
      <p:sp>
        <p:nvSpPr>
          <p:cNvPr id="24" name="Shape 18"/>
          <p:cNvSpPr/>
          <p:nvPr/>
        </p:nvSpPr>
        <p:spPr>
          <a:xfrm>
            <a:off x="5848502" y="4434840"/>
            <a:ext cx="109728" cy="0"/>
          </a:xfrm>
          <a:prstGeom prst="line">
            <a:avLst/>
          </a:prstGeom>
          <a:noFill/>
          <a:ln w="12700">
            <a:solidFill>
              <a:srgbClr val="0B2A4A"/>
            </a:solidFill>
            <a:prstDash val="solid"/>
            <a:tailEnd type="triangle"/>
          </a:ln>
        </p:spPr>
      </p:sp>
      <p:sp>
        <p:nvSpPr>
          <p:cNvPr id="25" name="Shape 19"/>
          <p:cNvSpPr/>
          <p:nvPr/>
        </p:nvSpPr>
        <p:spPr>
          <a:xfrm>
            <a:off x="5958230" y="4206240"/>
            <a:ext cx="1283818" cy="457200"/>
          </a:xfrm>
          <a:prstGeom prst="roundRect">
            <a:avLst>
              <a:gd name="adj" fmla="val 12000"/>
            </a:avLst>
          </a:prstGeom>
          <a:solidFill>
            <a:srgbClr val="FFF1E6"/>
          </a:solidFill>
          <a:ln w="9525">
            <a:solidFill>
              <a:srgbClr val="FF7A1A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6031382" y="4206240"/>
            <a:ext cx="11375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FF7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&gt;&gt;  </a:t>
            </a:r>
            <a:pPr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Prototype</a:t>
            </a:r>
            <a:pPr indent="0" marL="0">
              <a:lnSpc>
                <a:spcPct val="110000"/>
              </a:lnSpc>
              <a:buNone/>
            </a:pPr>
            <a:endParaRPr lang="en-US" sz="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66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and live</a:t>
            </a:r>
            <a:endParaRPr lang="en-US" sz="700" dirty="0"/>
          </a:p>
        </p:txBody>
      </p:sp>
      <p:sp>
        <p:nvSpPr>
          <p:cNvPr id="27" name="Shape 21"/>
          <p:cNvSpPr/>
          <p:nvPr/>
        </p:nvSpPr>
        <p:spPr>
          <a:xfrm>
            <a:off x="384048" y="4828032"/>
            <a:ext cx="6858000" cy="822960"/>
          </a:xfrm>
          <a:prstGeom prst="roundRect">
            <a:avLst>
              <a:gd name="adj" fmla="val 6667"/>
            </a:avLst>
          </a:prstGeom>
          <a:solidFill>
            <a:srgbClr val="E9F5E9"/>
          </a:solidFill>
          <a:ln w="9525">
            <a:solidFill>
              <a:srgbClr val="138808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548640" y="4901184"/>
            <a:ext cx="6528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80" kern="0" dirty="0">
                <a:solidFill>
                  <a:srgbClr val="13880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PROTOTYPE</a:t>
            </a:r>
            <a:endParaRPr lang="en-US" sz="700" dirty="0"/>
          </a:p>
        </p:txBody>
      </p:sp>
      <p:sp>
        <p:nvSpPr>
          <p:cNvPr id="29" name="Text 23"/>
          <p:cNvSpPr/>
          <p:nvPr/>
        </p:nvSpPr>
        <p:spPr>
          <a:xfrm>
            <a:off x="548640" y="5074920"/>
            <a:ext cx="6528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be added before submission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548640" y="5358384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Prototype is deployed and reachable. Open the link rather than reading a screenshot.</a:t>
            </a:r>
            <a:endParaRPr lang="en-US" sz="660" dirty="0"/>
          </a:p>
        </p:txBody>
      </p:sp>
      <p:sp>
        <p:nvSpPr>
          <p:cNvPr id="31" name="Text 25"/>
          <p:cNvSpPr/>
          <p:nvPr/>
        </p:nvSpPr>
        <p:spPr>
          <a:xfrm>
            <a:off x="7461504" y="932688"/>
            <a:ext cx="434614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0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RESEARCH AND REFERENCES</a:t>
            </a:r>
            <a:endParaRPr lang="en-US" sz="800" dirty="0"/>
          </a:p>
        </p:txBody>
      </p:sp>
      <p:sp>
        <p:nvSpPr>
          <p:cNvPr id="32" name="Shape 26"/>
          <p:cNvSpPr/>
          <p:nvPr/>
        </p:nvSpPr>
        <p:spPr>
          <a:xfrm>
            <a:off x="7461504" y="1170432"/>
            <a:ext cx="41148" cy="457200"/>
          </a:xfrm>
          <a:prstGeom prst="rect">
            <a:avLst/>
          </a:prstGeom>
          <a:solidFill>
            <a:srgbClr val="0B2A4A"/>
          </a:solidFill>
          <a:ln/>
        </p:spPr>
      </p:sp>
      <p:sp>
        <p:nvSpPr>
          <p:cNvPr id="33" name="Text 27"/>
          <p:cNvSpPr/>
          <p:nvPr/>
        </p:nvSpPr>
        <p:spPr>
          <a:xfrm>
            <a:off x="7589520" y="1133856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b="1" dirty="0">
                <a:solidFill>
                  <a:srgbClr val="8A9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640" dirty="0"/>
          </a:p>
        </p:txBody>
      </p:sp>
      <p:sp>
        <p:nvSpPr>
          <p:cNvPr id="34" name="Text 28"/>
          <p:cNvSpPr/>
          <p:nvPr/>
        </p:nvSpPr>
        <p:spPr>
          <a:xfrm>
            <a:off x="7589520" y="1271016"/>
            <a:ext cx="40718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SIH 2026 Problem Statement 26044 — Ministry of Ayush, All India Institute of Ayurveda</a:t>
            </a:r>
            <a:endParaRPr lang="en-US" sz="700" dirty="0"/>
          </a:p>
        </p:txBody>
      </p:sp>
      <p:sp>
        <p:nvSpPr>
          <p:cNvPr id="35" name="Text 29"/>
          <p:cNvSpPr/>
          <p:nvPr/>
        </p:nvSpPr>
        <p:spPr>
          <a:xfrm>
            <a:off x="7589520" y="1554480"/>
            <a:ext cx="407182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b="1" dirty="0">
                <a:solidFill>
                  <a:srgbClr val="0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sih.gov.in</a:t>
            </a:r>
            <a:endParaRPr lang="en-US" sz="640" dirty="0"/>
          </a:p>
        </p:txBody>
      </p:sp>
      <p:sp>
        <p:nvSpPr>
          <p:cNvPr id="36" name="Shape 30"/>
          <p:cNvSpPr/>
          <p:nvPr/>
        </p:nvSpPr>
        <p:spPr>
          <a:xfrm>
            <a:off x="7589520" y="1709928"/>
            <a:ext cx="4090111" cy="0"/>
          </a:xfrm>
          <a:prstGeom prst="line">
            <a:avLst/>
          </a:prstGeom>
          <a:noFill/>
          <a:ln w="9525">
            <a:solidFill>
              <a:srgbClr val="E3E7EC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7461504" y="1760220"/>
            <a:ext cx="41148" cy="457200"/>
          </a:xfrm>
          <a:prstGeom prst="rect">
            <a:avLst/>
          </a:prstGeom>
          <a:solidFill>
            <a:srgbClr val="0B2A4A"/>
          </a:solidFill>
          <a:ln/>
        </p:spPr>
      </p:sp>
      <p:sp>
        <p:nvSpPr>
          <p:cNvPr id="38" name="Text 32"/>
          <p:cNvSpPr/>
          <p:nvPr/>
        </p:nvSpPr>
        <p:spPr>
          <a:xfrm>
            <a:off x="7589520" y="1723644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b="1" dirty="0">
                <a:solidFill>
                  <a:srgbClr val="8A9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640" dirty="0"/>
          </a:p>
        </p:txBody>
      </p:sp>
      <p:sp>
        <p:nvSpPr>
          <p:cNvPr id="39" name="Text 33"/>
          <p:cNvSpPr/>
          <p:nvPr/>
        </p:nvSpPr>
        <p:spPr>
          <a:xfrm>
            <a:off x="7589520" y="1860804"/>
            <a:ext cx="40718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NCISM — Shishiksha programme, permitted BAMS colleges, rotatory internship</a:t>
            </a:r>
            <a:endParaRPr lang="en-US" sz="700" dirty="0"/>
          </a:p>
        </p:txBody>
      </p:sp>
      <p:sp>
        <p:nvSpPr>
          <p:cNvPr id="40" name="Text 34"/>
          <p:cNvSpPr/>
          <p:nvPr/>
        </p:nvSpPr>
        <p:spPr>
          <a:xfrm>
            <a:off x="7589520" y="2144268"/>
            <a:ext cx="407182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b="1" dirty="0">
                <a:solidFill>
                  <a:srgbClr val="0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ncismindia.org</a:t>
            </a:r>
            <a:endParaRPr lang="en-US" sz="640" dirty="0"/>
          </a:p>
        </p:txBody>
      </p:sp>
      <p:sp>
        <p:nvSpPr>
          <p:cNvPr id="41" name="Shape 35"/>
          <p:cNvSpPr/>
          <p:nvPr/>
        </p:nvSpPr>
        <p:spPr>
          <a:xfrm>
            <a:off x="7589520" y="2299716"/>
            <a:ext cx="4090111" cy="0"/>
          </a:xfrm>
          <a:prstGeom prst="line">
            <a:avLst/>
          </a:prstGeom>
          <a:noFill/>
          <a:ln w="9525">
            <a:solidFill>
              <a:srgbClr val="E3E7EC"/>
            </a:solidFill>
            <a:prstDash val="solid"/>
          </a:ln>
        </p:spPr>
      </p:sp>
      <p:sp>
        <p:nvSpPr>
          <p:cNvPr id="42" name="Shape 36"/>
          <p:cNvSpPr/>
          <p:nvPr/>
        </p:nvSpPr>
        <p:spPr>
          <a:xfrm>
            <a:off x="7461504" y="2350008"/>
            <a:ext cx="41148" cy="457200"/>
          </a:xfrm>
          <a:prstGeom prst="rect">
            <a:avLst/>
          </a:prstGeom>
          <a:solidFill>
            <a:srgbClr val="0B2A4A"/>
          </a:solidFill>
          <a:ln/>
        </p:spPr>
      </p:sp>
      <p:sp>
        <p:nvSpPr>
          <p:cNvPr id="43" name="Text 37"/>
          <p:cNvSpPr/>
          <p:nvPr/>
        </p:nvSpPr>
        <p:spPr>
          <a:xfrm>
            <a:off x="7589520" y="2313432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b="1" dirty="0">
                <a:solidFill>
                  <a:srgbClr val="8A9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640" dirty="0"/>
          </a:p>
        </p:txBody>
      </p:sp>
      <p:sp>
        <p:nvSpPr>
          <p:cNvPr id="44" name="Text 38"/>
          <p:cNvSpPr/>
          <p:nvPr/>
        </p:nvSpPr>
        <p:spPr>
          <a:xfrm>
            <a:off x="7589520" y="2450592"/>
            <a:ext cx="40718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CCRAS — research programmes and fellowships seeded into the portal</a:t>
            </a:r>
            <a:endParaRPr lang="en-US" sz="700" dirty="0"/>
          </a:p>
        </p:txBody>
      </p:sp>
      <p:sp>
        <p:nvSpPr>
          <p:cNvPr id="45" name="Text 39"/>
          <p:cNvSpPr/>
          <p:nvPr/>
        </p:nvSpPr>
        <p:spPr>
          <a:xfrm>
            <a:off x="7589520" y="2734056"/>
            <a:ext cx="407182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b="1" dirty="0">
                <a:solidFill>
                  <a:srgbClr val="0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ccras.nic.in</a:t>
            </a:r>
            <a:endParaRPr lang="en-US" sz="640" dirty="0"/>
          </a:p>
        </p:txBody>
      </p:sp>
      <p:sp>
        <p:nvSpPr>
          <p:cNvPr id="46" name="Shape 40"/>
          <p:cNvSpPr/>
          <p:nvPr/>
        </p:nvSpPr>
        <p:spPr>
          <a:xfrm>
            <a:off x="7589520" y="2889504"/>
            <a:ext cx="4090111" cy="0"/>
          </a:xfrm>
          <a:prstGeom prst="line">
            <a:avLst/>
          </a:prstGeom>
          <a:noFill/>
          <a:ln w="9525">
            <a:solidFill>
              <a:srgbClr val="E3E7EC"/>
            </a:solidFill>
            <a:prstDash val="solid"/>
          </a:ln>
        </p:spPr>
      </p:sp>
      <p:sp>
        <p:nvSpPr>
          <p:cNvPr id="47" name="Shape 41"/>
          <p:cNvSpPr/>
          <p:nvPr/>
        </p:nvSpPr>
        <p:spPr>
          <a:xfrm>
            <a:off x="7461504" y="2939796"/>
            <a:ext cx="41148" cy="457200"/>
          </a:xfrm>
          <a:prstGeom prst="rect">
            <a:avLst/>
          </a:prstGeom>
          <a:solidFill>
            <a:srgbClr val="0B2A4A"/>
          </a:solidFill>
          <a:ln/>
        </p:spPr>
      </p:sp>
      <p:sp>
        <p:nvSpPr>
          <p:cNvPr id="48" name="Text 42"/>
          <p:cNvSpPr/>
          <p:nvPr/>
        </p:nvSpPr>
        <p:spPr>
          <a:xfrm>
            <a:off x="7589520" y="290322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b="1" dirty="0">
                <a:solidFill>
                  <a:srgbClr val="8A9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640" dirty="0"/>
          </a:p>
        </p:txBody>
      </p:sp>
      <p:sp>
        <p:nvSpPr>
          <p:cNvPr id="49" name="Text 43"/>
          <p:cNvSpPr/>
          <p:nvPr/>
        </p:nvSpPr>
        <p:spPr>
          <a:xfrm>
            <a:off x="7589520" y="3040380"/>
            <a:ext cx="40718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Ministry of Ayush Annual Report — sector benchmarks</a:t>
            </a:r>
            <a:endParaRPr lang="en-US" sz="700" dirty="0"/>
          </a:p>
        </p:txBody>
      </p:sp>
      <p:sp>
        <p:nvSpPr>
          <p:cNvPr id="50" name="Text 44"/>
          <p:cNvSpPr/>
          <p:nvPr/>
        </p:nvSpPr>
        <p:spPr>
          <a:xfrm>
            <a:off x="7589520" y="3323844"/>
            <a:ext cx="407182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b="1" dirty="0">
                <a:solidFill>
                  <a:srgbClr val="0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ayush.gov.in</a:t>
            </a:r>
            <a:endParaRPr lang="en-US" sz="640" dirty="0"/>
          </a:p>
        </p:txBody>
      </p:sp>
      <p:sp>
        <p:nvSpPr>
          <p:cNvPr id="51" name="Shape 45"/>
          <p:cNvSpPr/>
          <p:nvPr/>
        </p:nvSpPr>
        <p:spPr>
          <a:xfrm>
            <a:off x="7589520" y="3479292"/>
            <a:ext cx="4090111" cy="0"/>
          </a:xfrm>
          <a:prstGeom prst="line">
            <a:avLst/>
          </a:prstGeom>
          <a:noFill/>
          <a:ln w="9525">
            <a:solidFill>
              <a:srgbClr val="E3E7EC"/>
            </a:solidFill>
            <a:prstDash val="solid"/>
          </a:ln>
        </p:spPr>
      </p:sp>
      <p:sp>
        <p:nvSpPr>
          <p:cNvPr id="52" name="Shape 46"/>
          <p:cNvSpPr/>
          <p:nvPr/>
        </p:nvSpPr>
        <p:spPr>
          <a:xfrm>
            <a:off x="7461504" y="3529584"/>
            <a:ext cx="41148" cy="457200"/>
          </a:xfrm>
          <a:prstGeom prst="rect">
            <a:avLst/>
          </a:prstGeom>
          <a:solidFill>
            <a:srgbClr val="0B2A4A"/>
          </a:solidFill>
          <a:ln/>
        </p:spPr>
      </p:sp>
      <p:sp>
        <p:nvSpPr>
          <p:cNvPr id="53" name="Text 47"/>
          <p:cNvSpPr/>
          <p:nvPr/>
        </p:nvSpPr>
        <p:spPr>
          <a:xfrm>
            <a:off x="7589520" y="3493008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b="1" dirty="0">
                <a:solidFill>
                  <a:srgbClr val="8A9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640" dirty="0"/>
          </a:p>
        </p:txBody>
      </p:sp>
      <p:sp>
        <p:nvSpPr>
          <p:cNvPr id="54" name="Text 48"/>
          <p:cNvSpPr/>
          <p:nvPr/>
        </p:nvSpPr>
        <p:spPr>
          <a:xfrm>
            <a:off x="7589520" y="3630168"/>
            <a:ext cx="40718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data.gov.in — public datasets for skill and placement baselines</a:t>
            </a:r>
            <a:endParaRPr lang="en-US" sz="700" dirty="0"/>
          </a:p>
        </p:txBody>
      </p:sp>
      <p:sp>
        <p:nvSpPr>
          <p:cNvPr id="55" name="Text 49"/>
          <p:cNvSpPr/>
          <p:nvPr/>
        </p:nvSpPr>
        <p:spPr>
          <a:xfrm>
            <a:off x="7589520" y="3913632"/>
            <a:ext cx="407182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b="1" dirty="0">
                <a:solidFill>
                  <a:srgbClr val="0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data.gov.in</a:t>
            </a:r>
            <a:endParaRPr lang="en-US" sz="640" dirty="0"/>
          </a:p>
        </p:txBody>
      </p:sp>
      <p:sp>
        <p:nvSpPr>
          <p:cNvPr id="56" name="Shape 50"/>
          <p:cNvSpPr/>
          <p:nvPr/>
        </p:nvSpPr>
        <p:spPr>
          <a:xfrm>
            <a:off x="7589520" y="4069080"/>
            <a:ext cx="4090111" cy="0"/>
          </a:xfrm>
          <a:prstGeom prst="line">
            <a:avLst/>
          </a:prstGeom>
          <a:noFill/>
          <a:ln w="9525">
            <a:solidFill>
              <a:srgbClr val="E3E7EC"/>
            </a:solidFill>
            <a:prstDash val="solid"/>
          </a:ln>
        </p:spPr>
      </p:sp>
      <p:sp>
        <p:nvSpPr>
          <p:cNvPr id="57" name="Shape 51"/>
          <p:cNvSpPr/>
          <p:nvPr/>
        </p:nvSpPr>
        <p:spPr>
          <a:xfrm>
            <a:off x="7461504" y="4119372"/>
            <a:ext cx="41148" cy="457200"/>
          </a:xfrm>
          <a:prstGeom prst="rect">
            <a:avLst/>
          </a:prstGeom>
          <a:solidFill>
            <a:srgbClr val="0B2A4A"/>
          </a:solidFill>
          <a:ln/>
        </p:spPr>
      </p:sp>
      <p:sp>
        <p:nvSpPr>
          <p:cNvPr id="58" name="Text 52"/>
          <p:cNvSpPr/>
          <p:nvPr/>
        </p:nvSpPr>
        <p:spPr>
          <a:xfrm>
            <a:off x="7589520" y="4082796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b="1" dirty="0">
                <a:solidFill>
                  <a:srgbClr val="8A9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640" dirty="0"/>
          </a:p>
        </p:txBody>
      </p:sp>
      <p:sp>
        <p:nvSpPr>
          <p:cNvPr id="59" name="Text 53"/>
          <p:cNvSpPr/>
          <p:nvPr/>
        </p:nvSpPr>
        <p:spPr>
          <a:xfrm>
            <a:off x="7589520" y="4219956"/>
            <a:ext cx="40718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NEP 2020 / NCrF — the credit framework skill levels map to</a:t>
            </a:r>
            <a:endParaRPr lang="en-US" sz="700" dirty="0"/>
          </a:p>
        </p:txBody>
      </p:sp>
      <p:sp>
        <p:nvSpPr>
          <p:cNvPr id="60" name="Text 54"/>
          <p:cNvSpPr/>
          <p:nvPr/>
        </p:nvSpPr>
        <p:spPr>
          <a:xfrm>
            <a:off x="7589520" y="4503420"/>
            <a:ext cx="407182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b="1" dirty="0">
                <a:solidFill>
                  <a:srgbClr val="0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education.gov.in</a:t>
            </a:r>
            <a:endParaRPr lang="en-US" sz="640" dirty="0"/>
          </a:p>
        </p:txBody>
      </p:sp>
      <p:sp>
        <p:nvSpPr>
          <p:cNvPr id="61" name="Shape 55"/>
          <p:cNvSpPr/>
          <p:nvPr/>
        </p:nvSpPr>
        <p:spPr>
          <a:xfrm>
            <a:off x="7589520" y="4658868"/>
            <a:ext cx="4090111" cy="0"/>
          </a:xfrm>
          <a:prstGeom prst="line">
            <a:avLst/>
          </a:prstGeom>
          <a:noFill/>
          <a:ln w="9525">
            <a:solidFill>
              <a:srgbClr val="E3E7EC"/>
            </a:solidFill>
            <a:prstDash val="solid"/>
          </a:ln>
        </p:spPr>
      </p:sp>
      <p:sp>
        <p:nvSpPr>
          <p:cNvPr id="62" name="Shape 56"/>
          <p:cNvSpPr/>
          <p:nvPr/>
        </p:nvSpPr>
        <p:spPr>
          <a:xfrm>
            <a:off x="7461504" y="4709160"/>
            <a:ext cx="41148" cy="457200"/>
          </a:xfrm>
          <a:prstGeom prst="rect">
            <a:avLst/>
          </a:prstGeom>
          <a:solidFill>
            <a:srgbClr val="0B2A4A"/>
          </a:solidFill>
          <a:ln/>
        </p:spPr>
      </p:sp>
      <p:sp>
        <p:nvSpPr>
          <p:cNvPr id="63" name="Text 57"/>
          <p:cNvSpPr/>
          <p:nvPr/>
        </p:nvSpPr>
        <p:spPr>
          <a:xfrm>
            <a:off x="7589520" y="4672584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b="1" dirty="0">
                <a:solidFill>
                  <a:srgbClr val="8A9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640" dirty="0"/>
          </a:p>
        </p:txBody>
      </p:sp>
      <p:sp>
        <p:nvSpPr>
          <p:cNvPr id="64" name="Text 58"/>
          <p:cNvSpPr/>
          <p:nvPr/>
        </p:nvSpPr>
        <p:spPr>
          <a:xfrm>
            <a:off x="7589520" y="4809744"/>
            <a:ext cx="40718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TestGorilla 2025 and HackerRank 2025 — the hiring statistics cited on slide 5</a:t>
            </a:r>
            <a:endParaRPr lang="en-US" sz="700" dirty="0"/>
          </a:p>
        </p:txBody>
      </p:sp>
      <p:sp>
        <p:nvSpPr>
          <p:cNvPr id="65" name="Text 59"/>
          <p:cNvSpPr/>
          <p:nvPr/>
        </p:nvSpPr>
        <p:spPr>
          <a:xfrm>
            <a:off x="7589520" y="5093208"/>
            <a:ext cx="407182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b="1" dirty="0">
                <a:solidFill>
                  <a:srgbClr val="0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cited inline</a:t>
            </a:r>
            <a:endParaRPr lang="en-US" sz="640" dirty="0"/>
          </a:p>
        </p:txBody>
      </p:sp>
      <p:sp>
        <p:nvSpPr>
          <p:cNvPr id="66" name="Shape 60"/>
          <p:cNvSpPr/>
          <p:nvPr/>
        </p:nvSpPr>
        <p:spPr>
          <a:xfrm>
            <a:off x="7589520" y="5248656"/>
            <a:ext cx="4090111" cy="0"/>
          </a:xfrm>
          <a:prstGeom prst="line">
            <a:avLst/>
          </a:prstGeom>
          <a:noFill/>
          <a:ln w="9525">
            <a:solidFill>
              <a:srgbClr val="E3E7EC"/>
            </a:solidFill>
            <a:prstDash val="solid"/>
          </a:ln>
        </p:spPr>
      </p:sp>
      <p:sp>
        <p:nvSpPr>
          <p:cNvPr id="67" name="Shape 61"/>
          <p:cNvSpPr/>
          <p:nvPr/>
        </p:nvSpPr>
        <p:spPr>
          <a:xfrm>
            <a:off x="7461504" y="5298948"/>
            <a:ext cx="41148" cy="457200"/>
          </a:xfrm>
          <a:prstGeom prst="rect">
            <a:avLst/>
          </a:prstGeom>
          <a:solidFill>
            <a:srgbClr val="8A93A0"/>
          </a:solidFill>
          <a:ln/>
        </p:spPr>
      </p:sp>
      <p:sp>
        <p:nvSpPr>
          <p:cNvPr id="68" name="Text 62"/>
          <p:cNvSpPr/>
          <p:nvPr/>
        </p:nvSpPr>
        <p:spPr>
          <a:xfrm>
            <a:off x="7589520" y="5262372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b="1" dirty="0">
                <a:solidFill>
                  <a:srgbClr val="8A9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640" dirty="0"/>
          </a:p>
        </p:txBody>
      </p:sp>
      <p:sp>
        <p:nvSpPr>
          <p:cNvPr id="69" name="Text 63"/>
          <p:cNvSpPr/>
          <p:nvPr/>
        </p:nvSpPr>
        <p:spPr>
          <a:xfrm>
            <a:off x="7589520" y="5399532"/>
            <a:ext cx="40718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Framework documentation (React, Vite, Supabase) — tooling docs, not research</a:t>
            </a:r>
            <a:endParaRPr lang="en-US" sz="700" dirty="0"/>
          </a:p>
        </p:txBody>
      </p:sp>
      <p:sp>
        <p:nvSpPr>
          <p:cNvPr id="70" name="Text 64"/>
          <p:cNvSpPr/>
          <p:nvPr/>
        </p:nvSpPr>
        <p:spPr>
          <a:xfrm>
            <a:off x="7589520" y="5682996"/>
            <a:ext cx="407182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b="1" dirty="0">
                <a:solidFill>
                  <a:srgbClr val="8A9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listed separately</a:t>
            </a:r>
            <a:endParaRPr lang="en-US" sz="6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Ministry of Ayush — All India Institute of Ayurveda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Avsar — SIH 2026 Problem Statement 26044</dc:title>
  <dc:subject>Portal for Academia - Industry collaboration for Skill Mapping, Internships and Placement</dc:subject>
  <dc:creator>Team Zencoderss</dc:creator>
  <cp:lastModifiedBy>Team Zencoderss</cp:lastModifiedBy>
  <cp:revision>1</cp:revision>
  <dcterms:created xsi:type="dcterms:W3CDTF">2026-09-21T21:11:31Z</dcterms:created>
  <dcterms:modified xsi:type="dcterms:W3CDTF">2026-09-21T21:11:31Z</dcterms:modified>
</cp:coreProperties>
</file>